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22"/>
  </p:notesMasterIdLst>
  <p:handoutMasterIdLst>
    <p:handoutMasterId r:id="rId23"/>
  </p:handoutMasterIdLst>
  <p:sldIdLst>
    <p:sldId id="1519" r:id="rId5"/>
    <p:sldId id="1520" r:id="rId6"/>
    <p:sldId id="1524" r:id="rId7"/>
    <p:sldId id="1529" r:id="rId8"/>
    <p:sldId id="1522" r:id="rId9"/>
    <p:sldId id="1511" r:id="rId10"/>
    <p:sldId id="1525" r:id="rId11"/>
    <p:sldId id="1526" r:id="rId12"/>
    <p:sldId id="1527" r:id="rId13"/>
    <p:sldId id="1528" r:id="rId14"/>
    <p:sldId id="1531" r:id="rId15"/>
    <p:sldId id="1532" r:id="rId16"/>
    <p:sldId id="1535" r:id="rId17"/>
    <p:sldId id="1534" r:id="rId18"/>
    <p:sldId id="1536" r:id="rId19"/>
    <p:sldId id="1537" r:id="rId20"/>
    <p:sldId id="15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80092A-BA31-44DF-BA51-BAC61790165F}">
          <p14:sldIdLst>
            <p14:sldId id="1519"/>
            <p14:sldId id="1520"/>
            <p14:sldId id="1524"/>
            <p14:sldId id="1529"/>
            <p14:sldId id="1522"/>
            <p14:sldId id="1511"/>
            <p14:sldId id="1525"/>
            <p14:sldId id="1526"/>
            <p14:sldId id="1527"/>
            <p14:sldId id="1528"/>
            <p14:sldId id="1531"/>
            <p14:sldId id="1532"/>
            <p14:sldId id="1535"/>
            <p14:sldId id="1534"/>
            <p14:sldId id="1536"/>
            <p14:sldId id="1537"/>
            <p14:sldId id="15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4F3FB-BDF1-5367-9F7B-55B6B56C3F5D}" v="211" dt="2026-09-17T04:59:51.768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69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50" y="331155"/>
            <a:ext cx="4765680" cy="2252655"/>
          </a:xfrm>
        </p:spPr>
        <p:txBody>
          <a:bodyPr>
            <a:normAutofit fontScale="90000"/>
          </a:bodyPr>
          <a:lstStyle/>
          <a:p>
            <a:r>
              <a:rPr lang="en-US" b="0"/>
              <a:t>Agriculture AI for smart farming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E5C6A-8FC2-5AD3-E91A-55D4C610C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990" y="3438206"/>
            <a:ext cx="4907920" cy="2083754"/>
          </a:xfrm>
        </p:spPr>
        <p:txBody>
          <a:bodyPr>
            <a:normAutofit lnSpcReduction="10000"/>
          </a:bodyPr>
          <a:lstStyle/>
          <a:p>
            <a:r>
              <a:rPr lang="en-US" b="1"/>
              <a:t>24ALT3101-Applied Machine Learning for Text Analysis</a:t>
            </a:r>
          </a:p>
          <a:p>
            <a:endParaRPr lang="en-US"/>
          </a:p>
          <a:p>
            <a:r>
              <a:rPr lang="en-US"/>
              <a:t>2420030601-B.Niharika</a:t>
            </a:r>
            <a:br>
              <a:rPr lang="en-US"/>
            </a:br>
            <a:r>
              <a:rPr lang="en-US"/>
              <a:t>2420030628-P.Akshaya</a:t>
            </a:r>
            <a:br>
              <a:rPr lang="en-US"/>
            </a:br>
            <a:r>
              <a:rPr lang="en-US"/>
              <a:t>2420090001-CH.Surya</a:t>
            </a:r>
            <a:br>
              <a:rPr lang="en-US"/>
            </a:br>
            <a:r>
              <a:rPr lang="en-US"/>
              <a:t>2420090037-V.Rithvik</a:t>
            </a:r>
          </a:p>
        </p:txBody>
      </p:sp>
      <p:pic>
        <p:nvPicPr>
          <p:cNvPr id="2" name="Picture 1" descr="Agriculture AI Smart Farming">
            <a:extLst>
              <a:ext uri="{FF2B5EF4-FFF2-40B4-BE49-F238E27FC236}">
                <a16:creationId xmlns:a16="http://schemas.microsoft.com/office/drawing/2014/main" id="{E2C78815-392D-8908-98F6-8261D248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94" r="-176" b="-238"/>
          <a:stretch>
            <a:fillRect/>
          </a:stretch>
        </p:blipFill>
        <p:spPr>
          <a:xfrm>
            <a:off x="5753968" y="1349814"/>
            <a:ext cx="6440924" cy="55122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1C2A5E-680C-10F6-2B49-A96CCCA5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18" y="147782"/>
            <a:ext cx="5061527" cy="2244436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418" y="2724912"/>
            <a:ext cx="11323782" cy="3739896"/>
          </a:xfrm>
        </p:spPr>
        <p:txBody>
          <a:bodyPr>
            <a:normAutofit/>
          </a:bodyPr>
          <a:lstStyle/>
          <a:p>
            <a:r>
              <a:rPr lang="en-US"/>
              <a:t>Agriculture plays a vital role in </a:t>
            </a:r>
            <a:r>
              <a:rPr lang="en-US" b="1"/>
              <a:t>food security and sustainable development</a:t>
            </a:r>
            <a:r>
              <a:rPr lang="en-US"/>
              <a:t>. However, traditional farming methods often depend on </a:t>
            </a:r>
            <a:r>
              <a:rPr lang="en-US" b="1"/>
              <a:t>manual monitoring and farmers' experience</a:t>
            </a:r>
            <a:r>
              <a:rPr lang="en-US"/>
              <a:t>, making it difficult to accurately predict </a:t>
            </a:r>
            <a:r>
              <a:rPr lang="en-US" b="1"/>
              <a:t>crop diseases, irrigation requirements, and crop yield</a:t>
            </a:r>
            <a:r>
              <a:rPr lang="en-US"/>
              <a:t>.</a:t>
            </a:r>
          </a:p>
          <a:p>
            <a:r>
              <a:rPr lang="en-US"/>
              <a:t>The proposed </a:t>
            </a:r>
            <a:r>
              <a:rPr lang="en-US" b="1"/>
              <a:t>Agriculture AI for Smart Farming</a:t>
            </a:r>
            <a:r>
              <a:rPr lang="en-US"/>
              <a:t> project addresses this problem by using agricultural data such as </a:t>
            </a:r>
            <a:r>
              <a:rPr lang="en-US" b="1"/>
              <a:t>soil moisture, temperature, humidity, rainfall, soil nutrients, and crop health information</a:t>
            </a:r>
            <a:r>
              <a:rPr lang="en-US"/>
              <a:t>. Machine Learning techniques are used to </a:t>
            </a:r>
            <a:r>
              <a:rPr lang="en-US" b="1"/>
              <a:t>recommend suitable crops, predict crop diseases, estimate irrigation requirements, and forecast crop yield</a:t>
            </a:r>
            <a:r>
              <a:rPr lang="en-US"/>
              <a:t>, while weather information can be integrated to provide timely farming recommendations.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0962EACB-D18D-0DF4-017A-01619606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5398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DC57-B250-944C-B430-81AE4BA04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155" y="1584779"/>
            <a:ext cx="11074753" cy="4737968"/>
          </a:xfrm>
        </p:spPr>
        <p:txBody>
          <a:bodyPr>
            <a:normAutofit/>
          </a:bodyPr>
          <a:lstStyle/>
          <a:p>
            <a:r>
              <a:rPr lang="en-US" b="1">
                <a:ea typeface="+mn-lt"/>
                <a:cs typeface="+mn-lt"/>
              </a:rPr>
              <a:t>To Develop and implement an AI‑based smart farming system</a:t>
            </a:r>
            <a:r>
              <a:rPr lang="en-US">
                <a:ea typeface="+mn-lt"/>
                <a:cs typeface="+mn-lt"/>
              </a:rPr>
              <a:t> → Build an intelligent platform that integrates machine learning, data analytics, and multilingual support to assist farmers in making informed decisions.</a:t>
            </a:r>
            <a:r>
              <a:rPr lang="en-US" dirty="0"/>
              <a:t> </a:t>
            </a:r>
          </a:p>
          <a:p>
            <a:r>
              <a:rPr lang="en-US" b="1" dirty="0">
                <a:ea typeface="+mn-lt"/>
                <a:cs typeface="+mn-lt"/>
              </a:rPr>
              <a:t>To Design and deploy models for crop and fertilizer recommendations</a:t>
            </a:r>
            <a:r>
              <a:rPr lang="en-US" dirty="0">
                <a:ea typeface="+mn-lt"/>
                <a:cs typeface="+mn-lt"/>
              </a:rPr>
              <a:t> → Utilize soil, weather, and environmental parameters to suggest suitable crops and optimize nutrient management for sustainable </a:t>
            </a:r>
            <a:r>
              <a:rPr lang="en-US" dirty="0" err="1">
                <a:ea typeface="+mn-lt"/>
                <a:cs typeface="+mn-lt"/>
              </a:rPr>
              <a:t>farming</a:t>
            </a:r>
            <a:r>
              <a:rPr lang="en-US" b="1" dirty="0" err="1">
                <a:ea typeface="+mn-lt"/>
                <a:cs typeface="+mn-lt"/>
              </a:rPr>
              <a:t>Build</a:t>
            </a:r>
            <a:r>
              <a:rPr lang="en-US" b="1" dirty="0">
                <a:ea typeface="+mn-lt"/>
                <a:cs typeface="+mn-lt"/>
              </a:rPr>
              <a:t> and train plant disease detection and yield prediction frameworks</a:t>
            </a:r>
            <a:r>
              <a:rPr lang="en-US" dirty="0">
                <a:ea typeface="+mn-lt"/>
                <a:cs typeface="+mn-lt"/>
              </a:rPr>
              <a:t> → Apply deep learning techniques to identify crop diseases from images, estimate expected yield, and provide preventive measures.</a:t>
            </a:r>
            <a:r>
              <a:rPr lang="en-US" dirty="0"/>
              <a:t> </a:t>
            </a:r>
          </a:p>
          <a:p>
            <a:r>
              <a:rPr lang="en-US" b="1">
                <a:ea typeface="+mn-lt"/>
                <a:cs typeface="+mn-lt"/>
              </a:rPr>
              <a:t>To Build and train plant disease detection and yield prediction frameworks</a:t>
            </a:r>
            <a:r>
              <a:rPr lang="en-US">
                <a:ea typeface="+mn-lt"/>
                <a:cs typeface="+mn-lt"/>
              </a:rPr>
              <a:t> → Apply deep learning techniques to identify crop diseases from images, estimate expected yield, and provide preventive measures.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To Integrate predictive analytics for irrigation and farming guidance</a:t>
            </a:r>
            <a:r>
              <a:rPr lang="en-US" dirty="0">
                <a:ea typeface="+mn-lt"/>
                <a:cs typeface="+mn-lt"/>
              </a:rPr>
              <a:t> → Use weather forecasting, sensor data, and AI insights to estimate water requirements, reduce wastage, and deliver timely agricultural </a:t>
            </a:r>
            <a:r>
              <a:rPr lang="en-US" dirty="0" err="1">
                <a:ea typeface="+mn-lt"/>
                <a:cs typeface="+mn-lt"/>
              </a:rPr>
              <a:t>recommendations.</a:t>
            </a:r>
            <a:r>
              <a:rPr lang="en-US" b="1" dirty="0" err="1"/>
              <a:t>To</a:t>
            </a:r>
            <a:r>
              <a:rPr lang="en-US" b="1" dirty="0"/>
              <a:t> provide timely farming recommendations</a:t>
            </a:r>
            <a:br>
              <a:rPr lang="en-US" dirty="0"/>
            </a:br>
            <a:r>
              <a:rPr lang="en-US" dirty="0"/>
              <a:t>→ Use weather and agricultural information to give useful suggestions to farmers.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AF9F995-3D45-4DD2-94E3-B6E72F57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720436"/>
            <a:ext cx="6345382" cy="858982"/>
          </a:xfrm>
        </p:spPr>
        <p:txBody>
          <a:bodyPr/>
          <a:lstStyle/>
          <a:p>
            <a:r>
              <a:rPr lang="en-US"/>
              <a:t>Objectives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02AE0DEC-757A-0857-2F08-CDA46CC84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2522-BCEB-1D8B-E54B-9E6DB9CD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468" y="-138409"/>
            <a:ext cx="14493601" cy="1195757"/>
          </a:xfrm>
        </p:spPr>
        <p:txBody>
          <a:bodyPr/>
          <a:lstStyle/>
          <a:p>
            <a:r>
              <a:rPr lang="en-US" b="0" u="none">
                <a:ea typeface="+mj-lt"/>
                <a:cs typeface="+mj-lt"/>
              </a:rPr>
              <a:t>Literature Survey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594BCC-FC67-CAAF-A2F2-E3A519765B0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69617754"/>
              </p:ext>
            </p:extLst>
          </p:nvPr>
        </p:nvGraphicFramePr>
        <p:xfrm>
          <a:off x="-1355651" y="1355651"/>
          <a:ext cx="14711442" cy="70408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48519">
                  <a:extLst>
                    <a:ext uri="{9D8B030D-6E8A-4147-A177-3AD203B41FA5}">
                      <a16:colId xmlns:a16="http://schemas.microsoft.com/office/drawing/2014/main" val="2506962981"/>
                    </a:ext>
                  </a:extLst>
                </a:gridCol>
                <a:gridCol w="4785719">
                  <a:extLst>
                    <a:ext uri="{9D8B030D-6E8A-4147-A177-3AD203B41FA5}">
                      <a16:colId xmlns:a16="http://schemas.microsoft.com/office/drawing/2014/main" val="3703245826"/>
                    </a:ext>
                  </a:extLst>
                </a:gridCol>
                <a:gridCol w="2198839">
                  <a:extLst>
                    <a:ext uri="{9D8B030D-6E8A-4147-A177-3AD203B41FA5}">
                      <a16:colId xmlns:a16="http://schemas.microsoft.com/office/drawing/2014/main" val="3133652639"/>
                    </a:ext>
                  </a:extLst>
                </a:gridCol>
                <a:gridCol w="6778365">
                  <a:extLst>
                    <a:ext uri="{9D8B030D-6E8A-4147-A177-3AD203B41FA5}">
                      <a16:colId xmlns:a16="http://schemas.microsoft.com/office/drawing/2014/main" val="3263244242"/>
                    </a:ext>
                  </a:extLst>
                </a:gridCol>
              </a:tblGrid>
              <a:tr h="10732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     </a:t>
                      </a:r>
                      <a:r>
                        <a:rPr lang="en-US">
                          <a:solidFill>
                            <a:srgbClr val="000000"/>
                          </a:solidFill>
                        </a:rPr>
                        <a:t>SNO</a:t>
                      </a:r>
                    </a:p>
                    <a:p>
                      <a:pPr lvl="0">
                        <a:buNone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             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                Model/Technique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   </a:t>
                      </a:r>
                      <a:r>
                        <a:rPr lang="en-US"/>
                        <a:t>Output/Results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               </a:t>
                      </a:r>
                      <a:endParaRPr lang="en-US" sz="1800" b="0" i="0" u="none" strike="noStrike" noProof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                       </a:t>
                      </a:r>
                      <a:r>
                        <a:rPr lang="en-US" sz="1800" b="1" i="0" u="none" strike="noStrike" noProof="0">
                          <a:latin typeface="Aptos Light"/>
                        </a:rPr>
                        <a:t> Limitations</a:t>
                      </a:r>
                      <a:endParaRPr lang="en-US" sz="1800" b="0" i="0" u="none" strike="noStrike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93623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         1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</a:rPr>
                        <a:t>CNN (Convolutional Neural Network)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for maize disease classification(2022)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  <a:r>
                        <a:rPr lang="en-US" sz="1800" b="0" i="0" u="none" strike="noStrike" noProof="0">
                          <a:latin typeface="Aptos Light"/>
                        </a:rPr>
                        <a:t>Achieved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~97% accuracy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 in identifying leaf diseases using image datasets.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Required </a:t>
                      </a:r>
                      <a:r>
                        <a:rPr lang="en-US" sz="1800" b="1" i="0" u="none" strike="noStrike" noProof="0"/>
                        <a:t>large labeled datasets</a:t>
                      </a:r>
                      <a:r>
                        <a:rPr lang="en-US" sz="1800" b="0" i="0" u="none" strike="noStrike" noProof="0"/>
                        <a:t>; performance dropped on unseen field images due to lighting and background variations.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6698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      2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</a:rPr>
                        <a:t>ML-based NPK Optimization Model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using regression and clustering(2026)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latin typeface="Aptos Light"/>
                        </a:rPr>
                        <a:t>Generated 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site-specific fertilizer recommendations; reduced fertilizer waste.</a:t>
                      </a:r>
                      <a:r>
                        <a:rPr lang="en-US" dirty="0"/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/>
                        <a:t>High data preprocessing cost</a:t>
                      </a:r>
                      <a:r>
                        <a:rPr lang="en-US" sz="1800" b="0" i="0" u="none" strike="noStrike" noProof="0"/>
                        <a:t>; limited integration with IoT sensors and real-time weather data.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290270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r>
                        <a:rPr lang="en-US" dirty="0"/>
                        <a:t>    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        3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/>
                        <a:t>Hybrid CNN + SVM</a:t>
                      </a:r>
                      <a:r>
                        <a:rPr lang="en-US" sz="1800" b="0" i="0" u="none" strike="noStrike" noProof="0" dirty="0"/>
                        <a:t> for insect pest </a:t>
                      </a:r>
                      <a:r>
                        <a:rPr lang="en-US" sz="1800" b="0" i="0" u="none" strike="noStrike" noProof="0"/>
                        <a:t>identification(2026)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latin typeface="Aptos Light"/>
                        </a:rPr>
                        <a:t>Achieved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high precision (95%)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 in pest classification using image features.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Dataset imbalance and </a:t>
                      </a:r>
                      <a:r>
                        <a:rPr lang="en-US" sz="1800" b="1" i="0" u="none" strike="noStrike" noProof="0"/>
                        <a:t>lack of diverse pest images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/>
                        <a:t>reduced generalization; limited multilingual farmer usability.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9510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r>
                        <a:rPr lang="en-US" dirty="0"/>
                        <a:t>       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         4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/>
                        <a:t>Machine Vision + AI (Deep CNN)</a:t>
                      </a:r>
                      <a:r>
                        <a:rPr lang="en-US" sz="1800" b="0" i="0" u="none" strike="noStrike" noProof="0"/>
                        <a:t> for plant stress detection(2024)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Detected stress conditions(</a:t>
                      </a:r>
                      <a:r>
                        <a:rPr lang="en-US" sz="1800" b="0" i="0" u="none" strike="noStrike" noProof="0" dirty="0" err="1">
                          <a:latin typeface="Aptos Light"/>
                        </a:rPr>
                        <a:t>temperature,humidit,nutrientdeficiency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) with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&gt;90% accuracy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/>
                        <a:t>Sensor calibration issues</a:t>
                      </a:r>
                      <a:r>
                        <a:rPr lang="en-US" sz="1800" b="0" i="0" u="none" strike="noStrike" noProof="0"/>
                        <a:t> and </a:t>
                      </a:r>
                      <a:r>
                        <a:rPr lang="en-US" sz="1800" b="1" i="0" u="none" strike="noStrike" noProof="0"/>
                        <a:t>environmental noise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/>
                        <a:t>affected accuracy; limited scalability for small farms.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6427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FB815B-CD0D-D6A7-FAB2-D46884550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70610"/>
              </p:ext>
            </p:extLst>
          </p:nvPr>
        </p:nvGraphicFramePr>
        <p:xfrm>
          <a:off x="0" y="3207488"/>
          <a:ext cx="12192000" cy="404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5900672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844004992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575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59257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5E61-B638-09F9-C546-EC46B342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" y="164593"/>
            <a:ext cx="10194493" cy="962152"/>
          </a:xfrm>
        </p:spPr>
        <p:txBody>
          <a:bodyPr>
            <a:noAutofit/>
          </a:bodyPr>
          <a:lstStyle/>
          <a:p>
            <a:r>
              <a:rPr lang="en-US" sz="6000"/>
              <a:t>Research Gap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4DB0-1E7A-61A1-4F95-45F4A3D3EA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737" y="1547369"/>
            <a:ext cx="5926882" cy="4859527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Existing agricultural AI solutions often focus on </a:t>
            </a:r>
            <a:r>
              <a:rPr lang="en-US" sz="2000" b="1"/>
              <a:t>specific individual tasks</a:t>
            </a:r>
            <a:r>
              <a:rPr lang="en-US" sz="2000"/>
              <a:t>, such as crop management, disease detection, or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There is a need to use different agricultural information such as </a:t>
            </a:r>
            <a:r>
              <a:rPr lang="en-US" sz="2000" b="1"/>
              <a:t>soil, weather, nutrients, moisture, and crop health</a:t>
            </a:r>
            <a:r>
              <a:rPr lang="en-US" sz="2000"/>
              <a:t> together for better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Farmers need </a:t>
            </a:r>
            <a:r>
              <a:rPr lang="en-US" sz="2000" b="1"/>
              <a:t>timely and practical recommendations</a:t>
            </a:r>
            <a:r>
              <a:rPr lang="en-US" sz="2000"/>
              <a:t>, rather than only predictions from individual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Therefore, there is a need for an </a:t>
            </a:r>
            <a:r>
              <a:rPr lang="en-US" sz="2000" b="1"/>
              <a:t>integrated smart farming framework</a:t>
            </a:r>
            <a:r>
              <a:rPr lang="en-US" sz="2000"/>
              <a:t> that combines multiple Machine Learning-based agricultural tasks.</a:t>
            </a:r>
          </a:p>
          <a:p>
            <a:endParaRPr lang="en-US" sz="4200"/>
          </a:p>
        </p:txBody>
      </p:sp>
      <p:pic>
        <p:nvPicPr>
          <p:cNvPr id="5" name="Picture 4" descr="A diagram of a diagram showing different types of data&#10;&#10;AI-generated content may be incorrect.">
            <a:extLst>
              <a:ext uri="{FF2B5EF4-FFF2-40B4-BE49-F238E27FC236}">
                <a16:creationId xmlns:a16="http://schemas.microsoft.com/office/drawing/2014/main" id="{859429FC-E802-80CE-8481-D48C9AC0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02" y="1229360"/>
            <a:ext cx="5508677" cy="5628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796A2-B10A-B0DA-897A-11005C05F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2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365760"/>
            <a:ext cx="7667029" cy="1024128"/>
          </a:xfrm>
        </p:spPr>
        <p:txBody>
          <a:bodyPr/>
          <a:lstStyle/>
          <a:p>
            <a:r>
              <a:rPr lang="en-US"/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1783080"/>
            <a:ext cx="10942275" cy="299008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Integrates multiple agricultural AI functions into one smart farming framework.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agricultural data such as soil moisture, temperature, humidity, rainfall, soil nutrients, and crop health.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Machine Learning to recommend suitable crops, predict diseases, estimate irrigation needs, and forecast crop yield.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Integrates weather information to provide timely farming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Helps farmers make data-driven decisions instead of depending only on manual observation and experience.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DBA48-EA80-1CD8-6AE3-04BC2C71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8667-BC26-AD70-C888-2AB5E728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548640"/>
            <a:ext cx="7926155" cy="1252728"/>
          </a:xfrm>
        </p:spPr>
        <p:txBody>
          <a:bodyPr/>
          <a:lstStyle/>
          <a:p>
            <a:r>
              <a:rPr lang="en-US"/>
              <a:t>Creativity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02E4-651E-13C3-B1CD-B3D1324589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9496" y="2157984"/>
            <a:ext cx="10872216" cy="292608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Provides multiple farming solutions in one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agricultural information such as soil, weather, crop health, and nutrients.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Gives farmers useful suggestions for crop selection, disease detection, irrigation, and yield.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Makes the system more useful to farmers by providing timely farming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err="1"/>
              <a:t>AgriBuddy</a:t>
            </a:r>
            <a:r>
              <a:rPr lang="en-US"/>
              <a:t> AI project also includes features such as an AI chatbot, voice assistance, weather information, and multilingual support.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905AE-9154-5B64-81AD-D20A6701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87" y="4426323"/>
            <a:ext cx="3641913" cy="2431677"/>
          </a:xfrm>
          <a:prstGeom prst="rect">
            <a:avLst/>
          </a:prstGeom>
        </p:spPr>
      </p:pic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4B04ACAE-380E-7060-A671-B1AA68066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4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410B-2432-BB20-43A7-6CB50DFA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35000"/>
            <a:ext cx="7880435" cy="1001776"/>
          </a:xfrm>
        </p:spPr>
        <p:txBody>
          <a:bodyPr/>
          <a:lstStyle/>
          <a:p>
            <a:r>
              <a:rPr lang="en-US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859D-339D-A937-7C4A-7438321EA3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" y="1984248"/>
            <a:ext cx="10863072" cy="340156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Combines crop recommendation, disease prediction, irrigation estimation, and yield forecasting in one framework.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different agricultural parameters together instead of depending on only one type of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Machine Learning models such as Random Forest, Decision Tree for agricultural prediction tasks.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Provides a smart farming decision-support approach rather than only displaying agricultural data.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A4587-7656-20BF-8518-7B7AA483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0235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8755-CAC6-D486-FE5B-85B7EB23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45" y="635000"/>
            <a:ext cx="7554945" cy="861291"/>
          </a:xfrm>
        </p:spPr>
        <p:txBody>
          <a:bodyPr/>
          <a:lstStyle/>
          <a:p>
            <a:r>
              <a:rPr lang="en-US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A76C-EB5B-A4F7-92BE-2772E1BD38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7382" y="1958109"/>
            <a:ext cx="10834254" cy="2964874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Technical Feasibility: Uses established Machine Learning algorithms such as Random Forest, Decision Tree, SVM, and </a:t>
            </a:r>
            <a:r>
              <a:rPr lang="en-US" err="1"/>
              <a:t>XGBoost</a:t>
            </a:r>
            <a:r>
              <a:rPr lang="en-US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Dataset Feasibility: Suitable agricultural datasets such as Crop Recommendation and </a:t>
            </a:r>
            <a:r>
              <a:rPr lang="en-US" err="1"/>
              <a:t>PlantVillage</a:t>
            </a:r>
            <a:r>
              <a:rPr lang="en-US"/>
              <a:t> are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Data Feasibility: Agricultural data such as soil moisture, temperature, humidity, rainfall, soil nutrients, and crop health can be used.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Evaluation Feasibility: Models can be evaluated using Accuracy, Precision, Recall, F1-Score, MAE, RMSE, and Confusion Matrix.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34B52-AF4E-6BD6-9C95-89CE134A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320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2B02A-852A-DE15-F584-7F9E7ACE185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36436" y="421443"/>
            <a:ext cx="9023927" cy="6015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04038-4E0E-CE10-B74E-A35635FC8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98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5F87-D92A-D010-5569-2546ED84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49" y="212179"/>
            <a:ext cx="4426086" cy="1512650"/>
          </a:xfrm>
        </p:spPr>
        <p:txBody>
          <a:bodyPr/>
          <a:lstStyle/>
          <a:p>
            <a:pPr algn="ctr"/>
            <a:r>
              <a:rPr lang="en-US" sz="3200" u="none" dirty="0">
                <a:solidFill>
                  <a:schemeClr val="bg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Methodology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0531-C6EC-1C7A-3941-D0FB2CC423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8703" y="1131178"/>
            <a:ext cx="10644682" cy="57297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1.Data Collection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Soil, weather, crop, and nutrient data (datasets + sensors).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2.ML Models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Random Forest, Decision Tree, SVM, </a:t>
            </a:r>
            <a:r>
              <a:rPr lang="en-US" sz="16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 predictions.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3.Crop Recommendation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Suggests best crops using NPK, pH, rainfall, temp, humidity.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4.Disease Detection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ResNet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CNN on </a:t>
            </a:r>
            <a:r>
              <a:rPr lang="en-US" sz="16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PlantVillage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dataset for leaf diagnosis.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5.Irrigation Prediction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Calculates water needs from soil moisture &amp; weather.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6.Yield Prediction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Forecasts crop yield &amp; revenue using historical + input data.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7.Model Evaluation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Accuracy, Precision, Recall, F1, MAE, RMSE.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8.Dataset References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/>
          </a:p>
          <a:p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THUDM/</a:t>
            </a:r>
            <a:r>
              <a:rPr lang="en-US" sz="16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Crop_recommendation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PlantVillage</a:t>
            </a:r>
            <a:r>
              <a:rPr lang="en-US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0DCD-F0EE-AC46-C934-E54B64C7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02" y="327365"/>
            <a:ext cx="5923503" cy="1255696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pic>
        <p:nvPicPr>
          <p:cNvPr id="4" name="Content Placeholder 3" descr="Agriculture AI System Design">
            <a:extLst>
              <a:ext uri="{FF2B5EF4-FFF2-40B4-BE49-F238E27FC236}">
                <a16:creationId xmlns:a16="http://schemas.microsoft.com/office/drawing/2014/main" id="{E6D03C09-E310-95BD-7370-507FACDF9B6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l="-3880" t="13043" r="2871" b="3623"/>
          <a:stretch>
            <a:fillRect/>
          </a:stretch>
        </p:blipFill>
        <p:spPr>
          <a:xfrm>
            <a:off x="12241" y="1566733"/>
            <a:ext cx="11081035" cy="49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68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851E-23C0-7C3B-E38A-0A060BCB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95" y="-2428240"/>
            <a:ext cx="7731038" cy="3346766"/>
          </a:xfrm>
        </p:spPr>
        <p:txBody>
          <a:bodyPr/>
          <a:lstStyle/>
          <a:p>
            <a:r>
              <a:rPr lang="en-IN" sz="2800" dirty="0" err="1"/>
              <a:t>Modren</a:t>
            </a:r>
            <a:r>
              <a:rPr lang="en-IN" sz="2800" dirty="0"/>
              <a:t> Tools And Technology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47BDF-8E19-9881-72C9-9F4E4744EDF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243629" y="918527"/>
            <a:ext cx="8543838" cy="565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44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B1B8-6C2D-A24F-CD57-057DE71B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6242480" cy="94976"/>
          </a:xfrm>
        </p:spPr>
        <p:txBody>
          <a:bodyPr/>
          <a:lstStyle/>
          <a:p>
            <a:r>
              <a:rPr lang="en-US" b="0" u="none" dirty="0">
                <a:ea typeface="+mj-lt"/>
                <a:cs typeface="+mj-lt"/>
              </a:rPr>
              <a:t>Implementation</a:t>
            </a:r>
            <a:endParaRPr lang="en-US" dirty="0"/>
          </a:p>
        </p:txBody>
      </p:sp>
      <p:pic>
        <p:nvPicPr>
          <p:cNvPr id="4" name="Content Placeholder 3" descr="Agriculture AI Implementation">
            <a:extLst>
              <a:ext uri="{FF2B5EF4-FFF2-40B4-BE49-F238E27FC236}">
                <a16:creationId xmlns:a16="http://schemas.microsoft.com/office/drawing/2014/main" id="{631C9780-533D-802E-F97B-541BD3DA8DB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t="17127" r="-1149" b="552"/>
          <a:stretch>
            <a:fillRect/>
          </a:stretch>
        </p:blipFill>
        <p:spPr>
          <a:xfrm>
            <a:off x="633438" y="1379271"/>
            <a:ext cx="10725659" cy="523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47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631B-D978-9D48-AF05-8DD995AA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830" y="-2352039"/>
            <a:ext cx="7731038" cy="3346766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4CAE73-7492-0434-ED26-C543955D9EA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" y="931332"/>
            <a:ext cx="12191999" cy="592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7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9AD-7986-9EFC-254E-BFA4DCB3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4" y="-2360507"/>
            <a:ext cx="7731038" cy="3346766"/>
          </a:xfrm>
        </p:spPr>
        <p:txBody>
          <a:bodyPr/>
          <a:lstStyle/>
          <a:p>
            <a:r>
              <a:rPr lang="en-IN" sz="4000" dirty="0"/>
              <a:t>Performance evaluation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B8D48-885A-28CC-FCDC-39FFCA711C5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726267" y="1261533"/>
            <a:ext cx="6959600" cy="499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39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CD9FD2-225E-775E-DF5C-89792D75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60"/>
            <a:ext cx="123499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B6C86A-F29F-4C6D-91D0-60A3900F4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{89C8B882-1655-4111-9FAE-86CE32BB67B0}e68b7f07-47f1-4c94-a1ca-e7d736a42cf8-TF86f18fb6-1448-4a46-9973-da86b5b4a1df94418399_win32</Template>
  <TotalTime>32</TotalTime>
  <Words>1047</Words>
  <Application>Microsoft Office PowerPoint</Application>
  <PresentationFormat>Widescreen</PresentationFormat>
  <Paragraphs>97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Light</vt:lpstr>
      <vt:lpstr>Arial</vt:lpstr>
      <vt:lpstr>Calibri</vt:lpstr>
      <vt:lpstr>BoldUnderlinesKeynote</vt:lpstr>
      <vt:lpstr>Agriculture AI for smart farming</vt:lpstr>
      <vt:lpstr>Problem Statement</vt:lpstr>
      <vt:lpstr>Objectives</vt:lpstr>
      <vt:lpstr>Literature Survey</vt:lpstr>
      <vt:lpstr>Research Gap Identification</vt:lpstr>
      <vt:lpstr>Innovation</vt:lpstr>
      <vt:lpstr>Creativity</vt:lpstr>
      <vt:lpstr>Novelty</vt:lpstr>
      <vt:lpstr>Feasibility</vt:lpstr>
      <vt:lpstr>PowerPoint Presentation</vt:lpstr>
      <vt:lpstr>Methodology </vt:lpstr>
      <vt:lpstr>System design</vt:lpstr>
      <vt:lpstr>Modren Tools And Technology</vt:lpstr>
      <vt:lpstr>Implementation</vt:lpstr>
      <vt:lpstr>Result</vt:lpstr>
      <vt:lpstr>Performance evaluation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akashaya potlapally</dc:creator>
  <cp:lastModifiedBy>bommadi niharika</cp:lastModifiedBy>
  <cp:revision>225</cp:revision>
  <dcterms:created xsi:type="dcterms:W3CDTF">2026-08-06T06:01:23Z</dcterms:created>
  <dcterms:modified xsi:type="dcterms:W3CDTF">2026-10-30T03:30:51Z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