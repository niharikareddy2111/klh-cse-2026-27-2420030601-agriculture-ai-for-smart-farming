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3" r:id="rId4"/>
  </p:sldMasterIdLst>
  <p:notesMasterIdLst>
    <p:notesMasterId r:id="rId16"/>
  </p:notesMasterIdLst>
  <p:handoutMasterIdLst>
    <p:handoutMasterId r:id="rId17"/>
  </p:handoutMasterIdLst>
  <p:sldIdLst>
    <p:sldId id="1519" r:id="rId5"/>
    <p:sldId id="1520" r:id="rId6"/>
    <p:sldId id="1524" r:id="rId7"/>
    <p:sldId id="1529" r:id="rId8"/>
    <p:sldId id="1522" r:id="rId9"/>
    <p:sldId id="1511" r:id="rId10"/>
    <p:sldId id="1525" r:id="rId11"/>
    <p:sldId id="1526" r:id="rId12"/>
    <p:sldId id="1527" r:id="rId13"/>
    <p:sldId id="1528" r:id="rId14"/>
    <p:sldId id="151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E80092A-BA31-44DF-BA51-BAC61790165F}">
          <p14:sldIdLst>
            <p14:sldId id="1519"/>
            <p14:sldId id="1520"/>
            <p14:sldId id="1524"/>
            <p14:sldId id="1529"/>
            <p14:sldId id="1522"/>
            <p14:sldId id="1511"/>
            <p14:sldId id="1525"/>
            <p14:sldId id="1526"/>
            <p14:sldId id="1527"/>
            <p14:sldId id="1528"/>
            <p14:sldId id="151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B4F3FB-BDF1-5367-9F7B-55B6B56C3F5D}" v="211" dt="2026-09-17T04:59:51.768"/>
  </p1510:revLst>
</p1510:revInfo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2" autoAdjust="0"/>
    <p:restoredTop sz="94660"/>
  </p:normalViewPr>
  <p:slideViewPr>
    <p:cSldViewPr snapToGrid="0">
      <p:cViewPr varScale="1">
        <p:scale>
          <a:sx n="70" d="100"/>
          <a:sy n="70" d="100"/>
        </p:scale>
        <p:origin x="5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490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9690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5109526"/>
            <a:ext cx="10923936" cy="641279"/>
          </a:xfrm>
        </p:spPr>
        <p:txBody>
          <a:bodyPr anchor="b">
            <a:noAutofit/>
          </a:bodyPr>
          <a:lstStyle>
            <a:lvl1pPr algn="l">
              <a:defRPr sz="5000" u="sng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" name="Subtitle 2">
            <a:extLst>
              <a:ext uri="{FF2B5EF4-FFF2-40B4-BE49-F238E27FC236}">
                <a16:creationId xmlns:a16="http://schemas.microsoft.com/office/drawing/2014/main" id="{CDE85611-F29A-5B31-8523-08B6A1185C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29" y="5811724"/>
            <a:ext cx="10923936" cy="40929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 t="-40" b="-40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34029" y="6211605"/>
            <a:ext cx="36576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700589" y="6212217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C7524BB-F0A6-4140-A8AB-1C8A7E34AB03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009325" y="6221013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7802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6000" u="sng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0"/>
            <a:ext cx="4328498" cy="630936"/>
          </a:xfrm>
        </p:spPr>
        <p:txBody>
          <a:bodyPr/>
          <a:lstStyle/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72014" y="0"/>
            <a:ext cx="942975" cy="630936"/>
          </a:xfrm>
        </p:spPr>
        <p:txBody>
          <a:bodyPr/>
          <a:lstStyle/>
          <a:p>
            <a:fld id="{7E574385-C0BA-734A-92FC-17834D8EB701}" type="datetime1">
              <a:rPr lang="en-US" smtClean="0"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3" y="0"/>
            <a:ext cx="556592" cy="630936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87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4096" y="1016954"/>
            <a:ext cx="4306487" cy="3345811"/>
          </a:xfrm>
        </p:spPr>
        <p:txBody>
          <a:bodyPr anchor="b">
            <a:noAutofit/>
          </a:bodyPr>
          <a:lstStyle>
            <a:lvl1pPr algn="l">
              <a:defRPr sz="6000" u="sng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4095" y="4743765"/>
            <a:ext cx="4333869" cy="1479235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 l="-32" r="-32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4097" y="0"/>
            <a:ext cx="2447917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72014" y="0"/>
            <a:ext cx="958467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6C3E8657-ED4F-2349-80D5-3F1287888601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3" y="0"/>
            <a:ext cx="556592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253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0" y="1001715"/>
            <a:ext cx="4714880" cy="3360095"/>
          </a:xfrm>
        </p:spPr>
        <p:txBody>
          <a:bodyPr anchor="t">
            <a:noAutofit/>
          </a:bodyPr>
          <a:lstStyle>
            <a:lvl1pPr algn="l">
              <a:defRPr sz="6000" u="sng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30" y="4728526"/>
            <a:ext cx="4714880" cy="14944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34030" y="3586"/>
            <a:ext cx="3154768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845379" y="3586"/>
            <a:ext cx="89831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DAA7185-3F7E-9249-BB9E-706C38E229BC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00270" y="3586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05502" y="0"/>
            <a:ext cx="628649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2845769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8" y="1011936"/>
            <a:ext cx="7538425" cy="3172503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6000" u="sng" cap="all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27" y="4728525"/>
            <a:ext cx="7538425" cy="1494475"/>
          </a:xfrm>
        </p:spPr>
        <p:txBody>
          <a:bodyPr anchor="b">
            <a:normAutofit/>
          </a:bodyPr>
          <a:lstStyle>
            <a:lvl1pPr marL="0" indent="0" algn="l">
              <a:lnSpc>
                <a:spcPct val="75000"/>
              </a:lnSpc>
              <a:spcBef>
                <a:spcPts val="0"/>
              </a:spcBef>
              <a:spcAft>
                <a:spcPts val="600"/>
              </a:spcAft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j-lt"/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j-lt"/>
              </a:defRPr>
            </a:lvl1pPr>
          </a:lstStyle>
          <a:p>
            <a:fld id="{99A48728-1D9C-2F4B-9F0A-BC2AEDF455B4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j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0794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1011936"/>
            <a:ext cx="8095016" cy="3335590"/>
          </a:xfrm>
        </p:spPr>
        <p:txBody>
          <a:bodyPr anchor="b">
            <a:normAutofit/>
          </a:bodyPr>
          <a:lstStyle>
            <a:lvl1pPr algn="l"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29" y="4728526"/>
            <a:ext cx="8095015" cy="1117538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5FDA9-B56F-3D40-BA5C-830FD973E5D1}" type="datetime1">
              <a:rPr lang="en-US" smtClean="0"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958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2" y="1011936"/>
            <a:ext cx="7924802" cy="3350830"/>
          </a:xfrm>
        </p:spPr>
        <p:txBody>
          <a:bodyPr anchor="b">
            <a:normAutofit/>
          </a:bodyPr>
          <a:lstStyle>
            <a:lvl1pPr algn="ctr">
              <a:defRPr sz="60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33602" y="4728526"/>
            <a:ext cx="7924801" cy="1117538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04B425-AD26-2748-9379-4D52F1178C82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8562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2AC2E79-609C-0D1A-9B21-608288E7C6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634999"/>
            <a:ext cx="7152035" cy="5588001"/>
          </a:xfrm>
        </p:spPr>
        <p:txBody>
          <a:bodyPr anchor="b">
            <a:normAutofit/>
          </a:bodyPr>
          <a:lstStyle>
            <a:lvl1pPr algn="l">
              <a:defRPr sz="75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903C4BE1-6BC7-07DF-D465-C3B7FD2F99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72448" y="634999"/>
            <a:ext cx="3385516" cy="1494477"/>
          </a:xfrm>
        </p:spPr>
        <p:txBody>
          <a:bodyPr anchor="t">
            <a:normAutofit/>
          </a:bodyPr>
          <a:lstStyle>
            <a:lvl1pPr marL="0" indent="0" algn="r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20502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2AC2E79-609C-0D1A-9B21-608288E7C6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634999"/>
            <a:ext cx="7152035" cy="5588001"/>
          </a:xfrm>
        </p:spPr>
        <p:txBody>
          <a:bodyPr anchor="b">
            <a:normAutofit/>
          </a:bodyPr>
          <a:lstStyle>
            <a:lvl1pPr algn="l">
              <a:defRPr sz="75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903C4BE1-6BC7-07DF-D465-C3B7FD2F99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72448" y="634999"/>
            <a:ext cx="3385516" cy="1494477"/>
          </a:xfrm>
        </p:spPr>
        <p:txBody>
          <a:bodyPr anchor="t">
            <a:normAutofit/>
          </a:bodyPr>
          <a:lstStyle>
            <a:lvl1pPr marL="0" indent="0" algn="r">
              <a:buNone/>
              <a:defRPr sz="2000" b="1" i="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31677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8" y="1748474"/>
            <a:ext cx="7538425" cy="4474526"/>
          </a:xfrm>
        </p:spPr>
        <p:txBody>
          <a:bodyPr anchor="b">
            <a:normAutofit/>
          </a:bodyPr>
          <a:lstStyle>
            <a:lvl1pPr algn="l"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505051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8" y="1748474"/>
            <a:ext cx="7538425" cy="4474526"/>
          </a:xfrm>
        </p:spPr>
        <p:txBody>
          <a:bodyPr anchor="b">
            <a:normAutofit/>
          </a:bodyPr>
          <a:lstStyle>
            <a:lvl1pPr algn="l"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327587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lcom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01714"/>
            <a:ext cx="5652464" cy="2613336"/>
          </a:xfrm>
        </p:spPr>
        <p:txBody>
          <a:bodyPr anchor="b">
            <a:noAutofit/>
          </a:bodyPr>
          <a:lstStyle>
            <a:lvl1pPr>
              <a:defRPr sz="6000" u="sng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0"/>
            <a:ext cx="4328498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72014" y="0"/>
            <a:ext cx="942975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5F2758A-C3D6-E84B-B3E9-757EFEF52D55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3" y="0"/>
            <a:ext cx="556592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029" y="3996050"/>
            <a:ext cx="5652464" cy="2226950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2pPr>
            <a:lvl3pPr>
              <a:lnSpc>
                <a:spcPct val="12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2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4pPr>
            <a:lvl5pPr>
              <a:lnSpc>
                <a:spcPct val="12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Picture Placeholder 7">
            <a:extLst>
              <a:ext uri="{FF2B5EF4-FFF2-40B4-BE49-F238E27FC236}">
                <a16:creationId xmlns:a16="http://schemas.microsoft.com/office/drawing/2014/main" id="{DEE8CE2C-7AFC-E265-19EB-F76884D5992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43095" y="630936"/>
            <a:ext cx="4714870" cy="5592064"/>
          </a:xfrm>
          <a:blipFill dpi="0" rotWithShape="1">
            <a:blip r:embed="rId2">
              <a:alphaModFix amt="60000"/>
            </a:blip>
            <a:srcRect/>
            <a:stretch>
              <a:fillRect l="-40" r="-40"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1779107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001715"/>
            <a:ext cx="4663440" cy="2241233"/>
          </a:xfrm>
        </p:spPr>
        <p:txBody>
          <a:bodyPr anchor="t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3095" y="0"/>
            <a:ext cx="2828918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07112" y="0"/>
            <a:ext cx="91440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EEECD8D-53A7-3A4F-8909-5ECB0FEF37FB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9324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3623950"/>
            <a:ext cx="4663440" cy="2539106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sz="180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sz="1600">
                <a:solidFill>
                  <a:schemeClr val="tx1"/>
                </a:solidFill>
              </a:defRPr>
            </a:lvl3pPr>
            <a:lvl4pPr marL="1028700" indent="-342900">
              <a:buFont typeface="+mj-lt"/>
              <a:buAutoNum type="arabicPeriod"/>
              <a:defRPr sz="140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72438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2129475"/>
            <a:ext cx="4719430" cy="2599051"/>
          </a:xfrm>
        </p:spPr>
        <p:txBody>
          <a:bodyPr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07E3B5C-D099-9543-A57D-129299D311F4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3095" y="2129475"/>
            <a:ext cx="4158283" cy="2599051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9489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748474"/>
            <a:ext cx="4328498" cy="3726812"/>
          </a:xfrm>
        </p:spPr>
        <p:txBody>
          <a:bodyPr>
            <a:norm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FDDB5BF-28B0-5C4D-A64A-E611B8C77204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11" y="1748473"/>
            <a:ext cx="6209053" cy="37268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59172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1381759"/>
            <a:ext cx="4347849" cy="4841241"/>
          </a:xfrm>
        </p:spPr>
        <p:txBody>
          <a:bodyPr>
            <a:norm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482B860-5E2A-1340-A6D3-E276E55F2222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11" y="1381759"/>
            <a:ext cx="6209054" cy="484124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12883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1001715"/>
            <a:ext cx="4347850" cy="4855526"/>
          </a:xfrm>
        </p:spPr>
        <p:txBody>
          <a:bodyPr>
            <a:norm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8676C7A-4B29-7743-AB3A-5EEF28262A7C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11" y="1001715"/>
            <a:ext cx="6209053" cy="485552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615749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2" y="1001715"/>
            <a:ext cx="3385529" cy="5221285"/>
          </a:xfrm>
        </p:spPr>
        <p:txBody>
          <a:bodyPr>
            <a:norm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7826AE1-158D-A74A-A5C8-25E57C484C69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05935" y="1001715"/>
            <a:ext cx="7152029" cy="522128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661736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01714"/>
            <a:ext cx="10923935" cy="1127760"/>
          </a:xfrm>
        </p:spPr>
        <p:txBody>
          <a:bodyPr>
            <a:noAutofit/>
          </a:bodyPr>
          <a:lstStyle>
            <a:lvl1pPr>
              <a:defRPr sz="6000" u="sng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0"/>
            <a:ext cx="4328498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72014" y="0"/>
            <a:ext cx="942975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A1EC562-4E50-D34B-8F39-5DD0D018EB66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3" y="0"/>
            <a:ext cx="556592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029" y="2495234"/>
            <a:ext cx="10923935" cy="372776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837858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11936"/>
            <a:ext cx="8481400" cy="1484254"/>
          </a:xfrm>
        </p:spPr>
        <p:txBody>
          <a:bodyPr anchor="t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EDD5DD5-92AA-6440-87DE-277C532BE8AC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4029" y="2877190"/>
            <a:ext cx="8481400" cy="3345810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>
                <a:solidFill>
                  <a:schemeClr val="tx1"/>
                </a:solidFill>
              </a:defRPr>
            </a:lvl1pPr>
            <a:lvl2pPr marL="685800" indent="-457200">
              <a:buFont typeface="+mj-lt"/>
              <a:buAutoNum type="arabicPeriod"/>
              <a:defRPr sz="200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sz="1800">
                <a:solidFill>
                  <a:schemeClr val="tx1"/>
                </a:solidFill>
              </a:defRPr>
            </a:lvl3pPr>
            <a:lvl4pPr marL="1028700" indent="-342900">
              <a:buFont typeface="+mj-lt"/>
              <a:buAutoNum type="arabicPeriod"/>
              <a:defRPr sz="1600">
                <a:solidFill>
                  <a:schemeClr val="tx1"/>
                </a:solidFill>
              </a:defRPr>
            </a:lvl4pPr>
            <a:lvl5pPr marL="1257300" indent="-342900">
              <a:buFont typeface="+mj-lt"/>
              <a:buAutoNum type="arabicPeriod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908270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8911" y="1001714"/>
            <a:ext cx="6209053" cy="1122374"/>
          </a:xfrm>
        </p:spPr>
        <p:txBody>
          <a:bodyPr anchor="t"/>
          <a:lstStyle>
            <a:lvl1pPr>
              <a:defRPr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843096" y="0"/>
            <a:ext cx="2828918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700589" y="0"/>
            <a:ext cx="91440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3C78A78-9BD4-2540-9BAB-27AD9352B454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9324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90490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8911" y="2496189"/>
            <a:ext cx="6209053" cy="372681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5385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1001714"/>
            <a:ext cx="6209066" cy="1121419"/>
          </a:xfrm>
        </p:spPr>
        <p:txBody>
          <a:bodyPr anchor="t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34028" y="0"/>
            <a:ext cx="3181348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859766" y="0"/>
            <a:ext cx="896113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B5BCBD1-B884-5B4C-ACE8-81AA2A39E888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800270" y="0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8" y="2495234"/>
            <a:ext cx="6209066" cy="372776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62823" y="0"/>
            <a:ext cx="492917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877176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936" y="1001714"/>
            <a:ext cx="7152028" cy="1122374"/>
          </a:xfrm>
        </p:spPr>
        <p:txBody>
          <a:bodyPr anchor="t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01954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871664" y="0"/>
            <a:ext cx="2800349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700589" y="0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61CBF7-6530-194B-9FC2-12E7E7738880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9324" y="0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5936" y="2496189"/>
            <a:ext cx="7152028" cy="37268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992636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1001714"/>
            <a:ext cx="6587506" cy="1112519"/>
          </a:xfrm>
        </p:spPr>
        <p:txBody>
          <a:bodyPr anchor="t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8" y="2495234"/>
            <a:ext cx="6595451" cy="372776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34028" y="0"/>
            <a:ext cx="3177059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848478" y="0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FA5E271-D672-F147-B371-ABF5E56F00EC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800269" y="0"/>
            <a:ext cx="548641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72454" y="0"/>
            <a:ext cx="401954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38457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3095" y="1019803"/>
            <a:ext cx="4714869" cy="1109672"/>
          </a:xfrm>
        </p:spPr>
        <p:txBody>
          <a:bodyPr anchor="t"/>
          <a:lstStyle>
            <a:lvl1pPr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28649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3095" y="0"/>
            <a:ext cx="2828918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00581" y="0"/>
            <a:ext cx="914407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CC79DE5A-E0D1-2647-9D82-FBDAE5DFB807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43095" y="2514279"/>
            <a:ext cx="4714869" cy="37087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230043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1001715"/>
            <a:ext cx="4714881" cy="1108746"/>
          </a:xfrm>
        </p:spPr>
        <p:txBody>
          <a:bodyPr anchor="t"/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2515204"/>
            <a:ext cx="4714881" cy="37077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8" y="0"/>
            <a:ext cx="2805405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30190" y="0"/>
            <a:ext cx="91440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E69D102-A2FD-8743-85DB-14F8D0C32AC3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00270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05502" y="0"/>
            <a:ext cx="628649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4333333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3095" y="1011935"/>
            <a:ext cx="4714869" cy="1112153"/>
          </a:xfrm>
        </p:spPr>
        <p:txBody>
          <a:bodyPr anchor="b"/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3237" y="0"/>
            <a:ext cx="283687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87910" y="0"/>
            <a:ext cx="92708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A9F1854-4AF0-ED49-AE83-182A816927B5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29" y="630936"/>
            <a:ext cx="5652469" cy="5592063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61021" y="2496190"/>
            <a:ext cx="4696943" cy="372680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76390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001714"/>
            <a:ext cx="4714880" cy="1121417"/>
          </a:xfrm>
        </p:spPr>
        <p:txBody>
          <a:bodyPr anchor="t"/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8" y="0"/>
            <a:ext cx="2805405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48478" y="0"/>
            <a:ext cx="91440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E8F57D1-DD5E-4E44-98C5-7D5639D55A57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00269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2495233"/>
            <a:ext cx="4736136" cy="372776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05502" y="0"/>
            <a:ext cx="628649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338564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2454" y="992921"/>
            <a:ext cx="3385510" cy="1117539"/>
          </a:xfrm>
        </p:spPr>
        <p:txBody>
          <a:bodyPr anchor="t">
            <a:noAutofit/>
          </a:bodyPr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172454" y="0"/>
            <a:ext cx="1735843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911643" y="0"/>
            <a:ext cx="700007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DB83C81-A524-F840-ABC9-B6BB50E4A13C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9323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72454" y="2515204"/>
            <a:ext cx="3385510" cy="37077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076502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1001715"/>
            <a:ext cx="3380187" cy="1108746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8" y="0"/>
            <a:ext cx="2083775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23140" y="0"/>
            <a:ext cx="716293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BA8DA53-5E6D-4942-B673-3E50E3C9DB93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65575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2491461"/>
            <a:ext cx="3380313" cy="373153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1099903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2454" y="994222"/>
            <a:ext cx="3385510" cy="1882967"/>
          </a:xfrm>
        </p:spPr>
        <p:txBody>
          <a:bodyPr anchor="b"/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72455" y="0"/>
            <a:ext cx="1735844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16244" y="0"/>
            <a:ext cx="695406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BA35C60-A52E-0F44-95C1-79561B62B391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34" name="Slide Number Placeholder 9">
            <a:extLst>
              <a:ext uri="{FF2B5EF4-FFF2-40B4-BE49-F238E27FC236}">
                <a16:creationId xmlns:a16="http://schemas.microsoft.com/office/drawing/2014/main" id="{64F22B5B-7B07-4638-1ED2-E13EDE05C19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9324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72454" y="3251766"/>
            <a:ext cx="3385510" cy="297123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228600" indent="0">
              <a:buNone/>
              <a:defRPr sz="1400">
                <a:solidFill>
                  <a:schemeClr val="tx1"/>
                </a:solidFill>
              </a:defRPr>
            </a:lvl2pPr>
            <a:lvl3pPr marL="457200" indent="0">
              <a:buNone/>
              <a:defRPr sz="1200">
                <a:solidFill>
                  <a:schemeClr val="tx1"/>
                </a:solidFill>
              </a:defRPr>
            </a:lvl3pPr>
            <a:lvl4pPr marL="685800" indent="0">
              <a:buNone/>
              <a:defRPr sz="1100">
                <a:solidFill>
                  <a:schemeClr val="tx1"/>
                </a:solidFill>
              </a:defRPr>
            </a:lvl4pPr>
            <a:lvl5pPr marL="914400" indent="0">
              <a:buNone/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06740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5100628"/>
            <a:ext cx="4328498" cy="1122373"/>
          </a:xfrm>
        </p:spPr>
        <p:txBody>
          <a:bodyPr anchor="t">
            <a:noAutofit/>
          </a:bodyPr>
          <a:lstStyle>
            <a:lvl1pPr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72852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100627"/>
            <a:ext cx="6208724" cy="1122373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6211605"/>
            <a:ext cx="36576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08540" y="6211605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5E8027-836D-F64B-BBF7-A246E67FE0A3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9324" y="6211605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4981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4353866"/>
            <a:ext cx="2828932" cy="1869134"/>
          </a:xfrm>
        </p:spPr>
        <p:txBody>
          <a:bodyPr anchor="t">
            <a:normAutofit/>
          </a:bodyPr>
          <a:lstStyle>
            <a:lvl1pPr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19552" y="4353866"/>
            <a:ext cx="7538412" cy="1869134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3pPr>
            <a:lvl4pPr marL="85725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1085850" indent="-171450">
              <a:buFont typeface="Arial" panose="020B0604020202020204" pitchFamily="34" charset="0"/>
              <a:buChar char="•"/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6211605"/>
            <a:ext cx="36576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08540" y="6211605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4D38C6B-BFF0-FA48-8F70-77BDD72A014D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9324" y="6211605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72022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27443"/>
            <a:ext cx="2828926" cy="1826790"/>
          </a:xfrm>
        </p:spPr>
        <p:txBody>
          <a:bodyPr anchor="t">
            <a:normAutofit/>
          </a:bodyPr>
          <a:lstStyle>
            <a:lvl1pPr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19552" y="634999"/>
            <a:ext cx="7538412" cy="1861191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3pPr>
            <a:lvl4pPr marL="85725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1085850" indent="-171450">
              <a:buFont typeface="Arial" panose="020B0604020202020204" pitchFamily="34" charset="0"/>
              <a:buChar char="•"/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07973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0"/>
            <a:ext cx="2805405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08540" y="0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40AF01B-D893-9C4D-8AB8-7E6079CED5E9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9324" y="0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82580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1011936"/>
            <a:ext cx="10945318" cy="745437"/>
          </a:xfrm>
        </p:spPr>
        <p:txBody>
          <a:bodyPr anchor="t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74623E1-10D5-C048-8991-E2228A964ED1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5" y="2129474"/>
            <a:ext cx="6230450" cy="40935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24097" y="2129474"/>
            <a:ext cx="4333867" cy="412819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9990392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01715"/>
            <a:ext cx="4714881" cy="1121418"/>
          </a:xfrm>
        </p:spPr>
        <p:txBody>
          <a:bodyPr>
            <a:normAutofit/>
          </a:bodyPr>
          <a:lstStyle>
            <a:lvl1pPr>
              <a:defRPr sz="36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5DB6E09-373C-2841-960E-B24A18A7C55D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28" y="2495234"/>
            <a:ext cx="4706938" cy="372776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86499" y="1001715"/>
            <a:ext cx="5292853" cy="522128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591538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996695"/>
            <a:ext cx="3771907" cy="1126438"/>
          </a:xfrm>
        </p:spPr>
        <p:txBody>
          <a:bodyPr anchor="t">
            <a:normAutofit/>
          </a:bodyPr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CB72DF-080D-4042-863C-D2B08AB5E1E8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29" y="2495234"/>
            <a:ext cx="3717934" cy="372776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62522" y="1005779"/>
            <a:ext cx="6615116" cy="53029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761859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6" y="4531056"/>
            <a:ext cx="6209067" cy="1691943"/>
          </a:xfrm>
        </p:spPr>
        <p:txBody>
          <a:bodyPr anchor="b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C5D9B6A-47DB-D845-97C7-9775E46E650D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27" y="630937"/>
            <a:ext cx="6209067" cy="350433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29479" y="630937"/>
            <a:ext cx="4328485" cy="559206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+mn-lt"/>
              </a:defRPr>
            </a:lvl1pPr>
            <a:lvl2pPr>
              <a:lnSpc>
                <a:spcPct val="12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+mn-lt"/>
              </a:defRPr>
            </a:lvl2pPr>
            <a:lvl3pPr>
              <a:lnSpc>
                <a:spcPct val="12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+mn-lt"/>
              </a:defRPr>
            </a:lvl3pPr>
            <a:lvl4pPr>
              <a:lnSpc>
                <a:spcPct val="12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+mn-lt"/>
              </a:defRPr>
            </a:lvl4pPr>
            <a:lvl5pPr>
              <a:lnSpc>
                <a:spcPct val="12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050821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15" y="5109526"/>
            <a:ext cx="6209079" cy="1113474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2" y="1011935"/>
            <a:ext cx="10923942" cy="3716591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8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5678024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3" y="5109526"/>
            <a:ext cx="7916856" cy="1113474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011935"/>
            <a:ext cx="10923935" cy="3716591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8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37487662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3" y="5109526"/>
            <a:ext cx="7916856" cy="1245554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 u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011936"/>
            <a:ext cx="10923935" cy="3665730"/>
          </a:xfrm>
        </p:spPr>
        <p:txBody>
          <a:bodyPr anchor="t">
            <a:noAutofit/>
          </a:bodyPr>
          <a:lstStyle>
            <a:lvl1pPr marL="0" indent="0" algn="ctr">
              <a:lnSpc>
                <a:spcPct val="90000"/>
              </a:lnSpc>
              <a:buNone/>
              <a:defRPr sz="28000" b="0" i="0" u="sng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3354092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4508" y="1001715"/>
            <a:ext cx="3393455" cy="5221285"/>
          </a:xfrm>
        </p:spPr>
        <p:txBody>
          <a:bodyPr anchor="b">
            <a:normAutofit/>
          </a:bodyPr>
          <a:lstStyle>
            <a:lvl1pPr algn="l">
              <a:lnSpc>
                <a:spcPct val="110000"/>
              </a:lnSpc>
              <a:defRPr sz="2000" b="1" i="0" u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040964"/>
            <a:ext cx="7144095" cy="5846064"/>
          </a:xfr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None/>
              <a:defRPr sz="28000" b="0" i="0" u="sng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1478165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4508" y="1001715"/>
            <a:ext cx="3393455" cy="5221285"/>
          </a:xfrm>
        </p:spPr>
        <p:txBody>
          <a:bodyPr anchor="b">
            <a:normAutofit/>
          </a:bodyPr>
          <a:lstStyle>
            <a:lvl1pPr algn="l">
              <a:lnSpc>
                <a:spcPct val="110000"/>
              </a:lnSpc>
              <a:defRPr sz="2000" b="1" i="0" u="none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040964"/>
            <a:ext cx="7144095" cy="5846064"/>
          </a:xfr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None/>
              <a:defRPr sz="28000" b="0" i="0" u="sng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6726619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795663"/>
            <a:ext cx="11579352" cy="1133856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A2AD571-8A42-FC4D-8DD1-0DD76ABF057B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001715"/>
            <a:ext cx="8502777" cy="5221286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 u="sng">
                <a:solidFill>
                  <a:schemeClr val="bg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4800" b="1" u="sng">
                <a:solidFill>
                  <a:schemeClr val="bg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4400" b="1" u="sng">
                <a:solidFill>
                  <a:schemeClr val="bg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4000" b="1" u="sng">
                <a:solidFill>
                  <a:schemeClr val="bg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3600" b="1" u="sng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4898756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700784"/>
            <a:ext cx="11579352" cy="1133856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3F588B4-CB59-614E-93AB-9F331D0D8D83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764792"/>
            <a:ext cx="8481400" cy="445820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1">
                <a:solidFill>
                  <a:schemeClr val="bg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4400" b="1">
                <a:solidFill>
                  <a:schemeClr val="bg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4000" b="1">
                <a:solidFill>
                  <a:schemeClr val="bg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3600" b="1">
                <a:solidFill>
                  <a:schemeClr val="bg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2954089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891284"/>
            <a:ext cx="11579352" cy="1133856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A8851A9-1959-C54C-A050-24BB5C598FE4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011936"/>
            <a:ext cx="8481400" cy="5211064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>
                <a:solidFill>
                  <a:schemeClr val="bg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4400" b="1">
                <a:solidFill>
                  <a:schemeClr val="bg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4000" b="1">
                <a:solidFill>
                  <a:schemeClr val="bg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3600" b="1">
                <a:solidFill>
                  <a:schemeClr val="bg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2685041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891284"/>
            <a:ext cx="11579352" cy="1133856"/>
          </a:xfrm>
        </p:spPr>
        <p:txBody>
          <a:bodyPr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432BBD40-9FB7-E148-AC1B-3919D230BEB1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8" y="1011936"/>
            <a:ext cx="9074511" cy="5211064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6000" b="1" i="0" u="sng">
                <a:solidFill>
                  <a:schemeClr val="accent1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400" b="1" i="0">
                <a:solidFill>
                  <a:schemeClr val="accent1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000" b="1" i="0">
                <a:solidFill>
                  <a:schemeClr val="accent1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1" i="0">
                <a:solidFill>
                  <a:schemeClr val="accent1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200" b="1" i="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804305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77005" y="5475284"/>
            <a:ext cx="9037984" cy="747715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u="none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B7B831F-0525-DF47-A6D2-509FE238C6D0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77004" y="1005779"/>
            <a:ext cx="9037985" cy="4103745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06903786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69066" y="5475285"/>
            <a:ext cx="9045923" cy="747715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u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43EBDBC-CFAC-9946-A2F3-D6402690E4D2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69066" y="1001715"/>
            <a:ext cx="9053874" cy="4107810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6334030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028" y="5475285"/>
            <a:ext cx="9074512" cy="747715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u="none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42C378-8FD2-C449-B7AA-6F7022066293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8" y="1011936"/>
            <a:ext cx="9037985" cy="371659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81588254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030" y="640203"/>
            <a:ext cx="10923934" cy="1099006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000" u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5AA9746-49E3-1D49-A044-597FC2272B5D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2120209"/>
            <a:ext cx="10923935" cy="4102791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6476062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030" y="1001715"/>
            <a:ext cx="10923934" cy="747715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000" u="none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55AA9746-49E3-1D49-A044-597FC2272B5D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2120209"/>
            <a:ext cx="10923935" cy="4102791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 b="0" i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25872294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4" y="1010613"/>
            <a:ext cx="10945189" cy="746759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7BE2A0-CBC1-A842-B334-0B3B571BCC28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028" y="2129474"/>
            <a:ext cx="5271473" cy="40935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83941" y="2129475"/>
            <a:ext cx="5274021" cy="409352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9374277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1010614"/>
            <a:ext cx="10923934" cy="746760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54D687F-3261-A345-B9E7-76DD0579BB9D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4028" y="2120575"/>
            <a:ext cx="5271474" cy="375613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3940" y="2120575"/>
            <a:ext cx="5274023" cy="37561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028" y="2877190"/>
            <a:ext cx="5266092" cy="334581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86500" y="2877190"/>
            <a:ext cx="5271464" cy="334581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462334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11936"/>
            <a:ext cx="10923935" cy="1865254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5C9DF99-DDC2-894B-B2EC-BE93B405C6CB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58173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7E1AAE6-D11F-2F46-A437-EC693200CDD7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33077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996695"/>
            <a:ext cx="3763961" cy="1314426"/>
          </a:xfrm>
        </p:spPr>
        <p:txBody>
          <a:bodyPr anchor="t">
            <a:normAutofit/>
          </a:bodyPr>
          <a:lstStyle>
            <a:lvl1pPr>
              <a:defRPr sz="28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D95903C-EDC1-ED4F-958F-696903391605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4028" y="2495234"/>
            <a:ext cx="3763961" cy="3727766"/>
          </a:xfrm>
        </p:spPr>
        <p:txBody>
          <a:bodyPr anchor="t"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0474" y="1005779"/>
            <a:ext cx="6604492" cy="5217221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850554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30936"/>
            <a:ext cx="3793283" cy="2246253"/>
          </a:xfrm>
        </p:spPr>
        <p:txBody>
          <a:bodyPr anchor="t">
            <a:normAutofit/>
          </a:bodyPr>
          <a:lstStyle>
            <a:lvl1pPr>
              <a:defRPr sz="28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0DC713B-25C9-B74A-9BBC-A695A5E98312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4021" y="3242949"/>
            <a:ext cx="3763969" cy="3017826"/>
          </a:xfrm>
        </p:spPr>
        <p:txBody>
          <a:bodyPr anchor="b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2523" y="630937"/>
            <a:ext cx="6616830" cy="5592064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32649805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982085"/>
            <a:ext cx="7538425" cy="1895105"/>
          </a:xfrm>
        </p:spPr>
        <p:txBody>
          <a:bodyPr anchor="b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D5279E-0E3B-B54D-9B59-E121D9B3AFDB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4028" y="3242949"/>
            <a:ext cx="10923935" cy="2980051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223946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381760"/>
            <a:ext cx="8481400" cy="1852292"/>
          </a:xfrm>
        </p:spPr>
        <p:txBody>
          <a:bodyPr anchor="b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C9E747C-1B1C-1345-96BA-B9E64C23A7BC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3614097"/>
            <a:ext cx="8481400" cy="1861187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228600" indent="0">
              <a:buNone/>
              <a:defRPr sz="2000">
                <a:solidFill>
                  <a:schemeClr val="tx1"/>
                </a:solidFill>
              </a:defRPr>
            </a:lvl2pPr>
            <a:lvl3pPr marL="457200" indent="0">
              <a:buNone/>
              <a:defRPr sz="1800">
                <a:solidFill>
                  <a:schemeClr val="tx1"/>
                </a:solidFill>
              </a:defRPr>
            </a:lvl3pPr>
            <a:lvl4pPr marL="685800" indent="0">
              <a:buNone/>
              <a:defRPr sz="1600">
                <a:solidFill>
                  <a:schemeClr val="tx1"/>
                </a:solidFill>
              </a:defRPr>
            </a:lvl4pPr>
            <a:lvl5pPr marL="91440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321228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381760"/>
            <a:ext cx="7731038" cy="3346766"/>
          </a:xfrm>
        </p:spPr>
        <p:txBody>
          <a:bodyPr anchor="b">
            <a:noAutofit/>
          </a:bodyPr>
          <a:lstStyle>
            <a:lvl1pPr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09DA23C4-A9FB-DB4A-B7DD-A0A5161EF3E0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5109526"/>
            <a:ext cx="6595450" cy="1113474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accent1"/>
                </a:solidFill>
                <a:latin typeface="+mj-lt"/>
              </a:defRPr>
            </a:lvl1pPr>
            <a:lvl2pPr marL="228600" indent="0">
              <a:buNone/>
              <a:defRPr sz="2000" b="1" i="0">
                <a:solidFill>
                  <a:schemeClr val="accent1"/>
                </a:solidFill>
                <a:latin typeface="+mj-lt"/>
              </a:defRPr>
            </a:lvl2pPr>
            <a:lvl3pPr marL="457200" indent="0">
              <a:buNone/>
              <a:defRPr sz="2000" b="1" i="0">
                <a:solidFill>
                  <a:schemeClr val="accent1"/>
                </a:solidFill>
                <a:latin typeface="+mj-lt"/>
              </a:defRPr>
            </a:lvl3pPr>
            <a:lvl4pPr marL="685800" indent="0">
              <a:buNone/>
              <a:defRPr sz="2000" b="1" i="0">
                <a:solidFill>
                  <a:schemeClr val="accent1"/>
                </a:solidFill>
                <a:latin typeface="+mj-lt"/>
              </a:defRPr>
            </a:lvl4pPr>
            <a:lvl5pPr marL="914400" indent="0">
              <a:buNone/>
              <a:defRPr sz="2000" b="1" i="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460278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01714"/>
            <a:ext cx="10923935" cy="149447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08540" y="0"/>
            <a:ext cx="914400" cy="6309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  <a:latin typeface="+mj-lt"/>
              </a:defRPr>
            </a:lvl1pPr>
          </a:lstStyle>
          <a:p>
            <a:fld id="{D90E5A07-4FDA-D34C-BE60-17876FEEBAA5}" type="datetime1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4029" y="0"/>
            <a:ext cx="3657600" cy="6309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9324" y="0"/>
            <a:ext cx="548640" cy="6309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bg1"/>
                </a:solidFill>
                <a:latin typeface="+mj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4029" y="2877190"/>
            <a:ext cx="10923935" cy="33458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09973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9" r:id="rId5"/>
    <p:sldLayoutId id="2147483780" r:id="rId6"/>
    <p:sldLayoutId id="2147483781" r:id="rId7"/>
    <p:sldLayoutId id="2147483782" r:id="rId8"/>
    <p:sldLayoutId id="2147483832" r:id="rId9"/>
    <p:sldLayoutId id="2147483783" r:id="rId10"/>
    <p:sldLayoutId id="2147483833" r:id="rId11"/>
    <p:sldLayoutId id="2147483784" r:id="rId12"/>
    <p:sldLayoutId id="2147483785" r:id="rId13"/>
    <p:sldLayoutId id="2147483786" r:id="rId14"/>
    <p:sldLayoutId id="2147483787" r:id="rId15"/>
    <p:sldLayoutId id="2147483788" r:id="rId16"/>
    <p:sldLayoutId id="2147483789" r:id="rId17"/>
    <p:sldLayoutId id="2147483790" r:id="rId18"/>
    <p:sldLayoutId id="2147483791" r:id="rId19"/>
    <p:sldLayoutId id="2147483792" r:id="rId20"/>
    <p:sldLayoutId id="2147483793" r:id="rId21"/>
    <p:sldLayoutId id="2147483794" r:id="rId22"/>
    <p:sldLayoutId id="2147483795" r:id="rId23"/>
    <p:sldLayoutId id="2147483796" r:id="rId24"/>
    <p:sldLayoutId id="2147483797" r:id="rId25"/>
    <p:sldLayoutId id="2147483798" r:id="rId26"/>
    <p:sldLayoutId id="2147483799" r:id="rId27"/>
    <p:sldLayoutId id="2147483800" r:id="rId28"/>
    <p:sldLayoutId id="2147483801" r:id="rId29"/>
    <p:sldLayoutId id="2147483802" r:id="rId30"/>
    <p:sldLayoutId id="2147483803" r:id="rId31"/>
    <p:sldLayoutId id="2147483804" r:id="rId32"/>
    <p:sldLayoutId id="2147483805" r:id="rId33"/>
    <p:sldLayoutId id="2147483806" r:id="rId34"/>
    <p:sldLayoutId id="2147483807" r:id="rId35"/>
    <p:sldLayoutId id="2147483808" r:id="rId36"/>
    <p:sldLayoutId id="2147483809" r:id="rId37"/>
    <p:sldLayoutId id="2147483810" r:id="rId38"/>
    <p:sldLayoutId id="2147483811" r:id="rId39"/>
    <p:sldLayoutId id="2147483812" r:id="rId40"/>
    <p:sldLayoutId id="2147483813" r:id="rId41"/>
    <p:sldLayoutId id="2147483814" r:id="rId42"/>
    <p:sldLayoutId id="2147483834" r:id="rId43"/>
    <p:sldLayoutId id="2147483815" r:id="rId44"/>
    <p:sldLayoutId id="2147483816" r:id="rId45"/>
    <p:sldLayoutId id="2147483817" r:id="rId46"/>
    <p:sldLayoutId id="2147483818" r:id="rId47"/>
    <p:sldLayoutId id="2147483819" r:id="rId48"/>
    <p:sldLayoutId id="2147483820" r:id="rId49"/>
    <p:sldLayoutId id="2147483821" r:id="rId50"/>
    <p:sldLayoutId id="2147483822" r:id="rId51"/>
    <p:sldLayoutId id="2147483835" r:id="rId52"/>
    <p:sldLayoutId id="2147483823" r:id="rId53"/>
    <p:sldLayoutId id="2147483824" r:id="rId54"/>
    <p:sldLayoutId id="2147483825" r:id="rId55"/>
    <p:sldLayoutId id="2147483826" r:id="rId56"/>
    <p:sldLayoutId id="2147483827" r:id="rId57"/>
    <p:sldLayoutId id="2147483828" r:id="rId58"/>
    <p:sldLayoutId id="2147483829" r:id="rId59"/>
    <p:sldLayoutId id="2147483830" r:id="rId60"/>
    <p:sldLayoutId id="2147483831" r:id="rId6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b="1" u="sng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5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2608C23-AAC7-24F5-F2C0-159F3F981C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1150" y="331155"/>
            <a:ext cx="4765680" cy="2252655"/>
          </a:xfrm>
        </p:spPr>
        <p:txBody>
          <a:bodyPr>
            <a:normAutofit fontScale="90000"/>
          </a:bodyPr>
          <a:lstStyle/>
          <a:p>
            <a:r>
              <a:rPr lang="en-US" b="0"/>
              <a:t>Agriculture AI for smart farming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AE5C6A-8FC2-5AD3-E91A-55D4C610C3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0990" y="3438206"/>
            <a:ext cx="4907920" cy="2083754"/>
          </a:xfrm>
        </p:spPr>
        <p:txBody>
          <a:bodyPr>
            <a:normAutofit lnSpcReduction="10000"/>
          </a:bodyPr>
          <a:lstStyle/>
          <a:p>
            <a:r>
              <a:rPr lang="en-US" b="1"/>
              <a:t>24ALT3101-Applied Machine Learning for Text Analysis</a:t>
            </a:r>
          </a:p>
          <a:p>
            <a:endParaRPr lang="en-US"/>
          </a:p>
          <a:p>
            <a:r>
              <a:rPr lang="en-US"/>
              <a:t>2420030601-B.Niharika</a:t>
            </a:r>
            <a:br>
              <a:rPr lang="en-US"/>
            </a:br>
            <a:r>
              <a:rPr lang="en-US"/>
              <a:t>2420030628-P.Akshaya</a:t>
            </a:r>
            <a:br>
              <a:rPr lang="en-US"/>
            </a:br>
            <a:r>
              <a:rPr lang="en-US"/>
              <a:t>2420090001-CH.Surya</a:t>
            </a:r>
            <a:br>
              <a:rPr lang="en-US"/>
            </a:br>
            <a:r>
              <a:rPr lang="en-US"/>
              <a:t>2420090037-V.Rithvik</a:t>
            </a:r>
          </a:p>
        </p:txBody>
      </p:sp>
      <p:pic>
        <p:nvPicPr>
          <p:cNvPr id="2" name="Picture 1" descr="Agriculture AI Smart Farming">
            <a:extLst>
              <a:ext uri="{FF2B5EF4-FFF2-40B4-BE49-F238E27FC236}">
                <a16:creationId xmlns:a16="http://schemas.microsoft.com/office/drawing/2014/main" id="{E2C78815-392D-8908-98F6-8261D24841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794" r="-176" b="-238"/>
          <a:stretch>
            <a:fillRect/>
          </a:stretch>
        </p:blipFill>
        <p:spPr>
          <a:xfrm>
            <a:off x="5753968" y="1349814"/>
            <a:ext cx="6440924" cy="55122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81C2A5E-680C-10F6-2B49-A96CCCA589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5820" y="143828"/>
            <a:ext cx="990600" cy="748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117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B9519-237E-F154-0775-DC5A3CDF7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418" y="147782"/>
            <a:ext cx="5061527" cy="2244436"/>
          </a:xfrm>
        </p:spPr>
        <p:txBody>
          <a:bodyPr/>
          <a:lstStyle/>
          <a:p>
            <a:r>
              <a:rPr lang="en-US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ACC6B-C7FD-0935-2022-57CCC9D64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418" y="2724912"/>
            <a:ext cx="11323782" cy="3739896"/>
          </a:xfrm>
        </p:spPr>
        <p:txBody>
          <a:bodyPr>
            <a:normAutofit/>
          </a:bodyPr>
          <a:lstStyle/>
          <a:p>
            <a:r>
              <a:rPr lang="en-US"/>
              <a:t>Agriculture plays a vital role in </a:t>
            </a:r>
            <a:r>
              <a:rPr lang="en-US" b="1"/>
              <a:t>food security and sustainable development</a:t>
            </a:r>
            <a:r>
              <a:rPr lang="en-US"/>
              <a:t>. However, traditional farming methods often depend on </a:t>
            </a:r>
            <a:r>
              <a:rPr lang="en-US" b="1"/>
              <a:t>manual monitoring and farmers' experience</a:t>
            </a:r>
            <a:r>
              <a:rPr lang="en-US"/>
              <a:t>, making it difficult to accurately predict </a:t>
            </a:r>
            <a:r>
              <a:rPr lang="en-US" b="1"/>
              <a:t>crop diseases, irrigation requirements, and crop yield</a:t>
            </a:r>
            <a:r>
              <a:rPr lang="en-US"/>
              <a:t>.</a:t>
            </a:r>
          </a:p>
          <a:p>
            <a:r>
              <a:rPr lang="en-US"/>
              <a:t>The proposed </a:t>
            </a:r>
            <a:r>
              <a:rPr lang="en-US" b="1"/>
              <a:t>Agriculture AI for Smart Farming</a:t>
            </a:r>
            <a:r>
              <a:rPr lang="en-US"/>
              <a:t> project addresses this problem by using agricultural data such as </a:t>
            </a:r>
            <a:r>
              <a:rPr lang="en-US" b="1"/>
              <a:t>soil moisture, temperature, humidity, rainfall, soil nutrients, and crop health information</a:t>
            </a:r>
            <a:r>
              <a:rPr lang="en-US"/>
              <a:t>. Machine Learning techniques are used to </a:t>
            </a:r>
            <a:r>
              <a:rPr lang="en-US" b="1"/>
              <a:t>recommend suitable crops, predict crop diseases, estimate irrigation requirements, and forecast crop yield</a:t>
            </a:r>
            <a:r>
              <a:rPr lang="en-US"/>
              <a:t>, while weather information can be integrated to provide timely farming recommendations.</a:t>
            </a:r>
          </a:p>
          <a:p>
            <a:pPr marL="0" indent="0">
              <a:buNone/>
            </a:pPr>
            <a:endParaRPr lang="en-US"/>
          </a:p>
        </p:txBody>
      </p:sp>
      <p:pic>
        <p:nvPicPr>
          <p:cNvPr id="5" name="Picture 4" descr="A logo with text on it&#10;&#10;AI-generated content may be incorrect.">
            <a:extLst>
              <a:ext uri="{FF2B5EF4-FFF2-40B4-BE49-F238E27FC236}">
                <a16:creationId xmlns:a16="http://schemas.microsoft.com/office/drawing/2014/main" id="{0962EACB-D18D-0DF4-017A-016196060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5820" y="153988"/>
            <a:ext cx="990600" cy="748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579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6EDC57-B250-944C-B430-81AE4BA0428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155" y="1584779"/>
            <a:ext cx="11074753" cy="4737968"/>
          </a:xfrm>
        </p:spPr>
        <p:txBody>
          <a:bodyPr>
            <a:normAutofit/>
          </a:bodyPr>
          <a:lstStyle/>
          <a:p>
            <a:r>
              <a:rPr lang="en-US" b="1">
                <a:ea typeface="+mn-lt"/>
                <a:cs typeface="+mn-lt"/>
              </a:rPr>
              <a:t>To Develop and implement an AI‑based smart farming system</a:t>
            </a:r>
            <a:r>
              <a:rPr lang="en-US">
                <a:ea typeface="+mn-lt"/>
                <a:cs typeface="+mn-lt"/>
              </a:rPr>
              <a:t> → Build an intelligent platform that integrates machine learning, data analytics, and multilingual support to assist farmers in making informed decisions.</a:t>
            </a:r>
            <a:r>
              <a:rPr lang="en-US" dirty="0"/>
              <a:t> </a:t>
            </a:r>
          </a:p>
          <a:p>
            <a:r>
              <a:rPr lang="en-US" b="1" dirty="0">
                <a:ea typeface="+mn-lt"/>
                <a:cs typeface="+mn-lt"/>
              </a:rPr>
              <a:t>To Design and deploy models for crop and fertilizer recommendations</a:t>
            </a:r>
            <a:r>
              <a:rPr lang="en-US" dirty="0">
                <a:ea typeface="+mn-lt"/>
                <a:cs typeface="+mn-lt"/>
              </a:rPr>
              <a:t> → Utilize soil, weather, and environmental parameters to suggest suitable crops and optimize nutrient management for sustainable </a:t>
            </a:r>
            <a:r>
              <a:rPr lang="en-US" dirty="0" err="1">
                <a:ea typeface="+mn-lt"/>
                <a:cs typeface="+mn-lt"/>
              </a:rPr>
              <a:t>farming</a:t>
            </a:r>
            <a:r>
              <a:rPr lang="en-US" b="1" dirty="0" err="1">
                <a:ea typeface="+mn-lt"/>
                <a:cs typeface="+mn-lt"/>
              </a:rPr>
              <a:t>Build</a:t>
            </a:r>
            <a:r>
              <a:rPr lang="en-US" b="1" dirty="0">
                <a:ea typeface="+mn-lt"/>
                <a:cs typeface="+mn-lt"/>
              </a:rPr>
              <a:t> and train plant disease detection and yield prediction frameworks</a:t>
            </a:r>
            <a:r>
              <a:rPr lang="en-US" dirty="0">
                <a:ea typeface="+mn-lt"/>
                <a:cs typeface="+mn-lt"/>
              </a:rPr>
              <a:t> → Apply deep learning techniques to identify crop diseases from images, estimate expected yield, and provide preventive measures.</a:t>
            </a:r>
            <a:r>
              <a:rPr lang="en-US" dirty="0"/>
              <a:t> </a:t>
            </a:r>
          </a:p>
          <a:p>
            <a:r>
              <a:rPr lang="en-US" b="1">
                <a:ea typeface="+mn-lt"/>
                <a:cs typeface="+mn-lt"/>
              </a:rPr>
              <a:t>To Build and train plant disease detection and yield prediction frameworks</a:t>
            </a:r>
            <a:r>
              <a:rPr lang="en-US">
                <a:ea typeface="+mn-lt"/>
                <a:cs typeface="+mn-lt"/>
              </a:rPr>
              <a:t> → Apply deep learning techniques to identify crop diseases from images, estimate expected yield, and provide preventive measures.</a:t>
            </a:r>
            <a:endParaRPr lang="en-US" dirty="0">
              <a:ea typeface="+mn-lt"/>
              <a:cs typeface="+mn-lt"/>
            </a:endParaRPr>
          </a:p>
          <a:p>
            <a:r>
              <a:rPr lang="en-US" b="1" dirty="0">
                <a:ea typeface="+mn-lt"/>
                <a:cs typeface="+mn-lt"/>
              </a:rPr>
              <a:t>To Integrate predictive analytics for irrigation and farming guidance</a:t>
            </a:r>
            <a:r>
              <a:rPr lang="en-US" dirty="0">
                <a:ea typeface="+mn-lt"/>
                <a:cs typeface="+mn-lt"/>
              </a:rPr>
              <a:t> → Use weather forecasting, sensor data, and AI insights to estimate water requirements, reduce wastage, and deliver timely agricultural </a:t>
            </a:r>
            <a:r>
              <a:rPr lang="en-US" dirty="0" err="1">
                <a:ea typeface="+mn-lt"/>
                <a:cs typeface="+mn-lt"/>
              </a:rPr>
              <a:t>recommendations.</a:t>
            </a:r>
            <a:r>
              <a:rPr lang="en-US" b="1" dirty="0" err="1"/>
              <a:t>To</a:t>
            </a:r>
            <a:r>
              <a:rPr lang="en-US" b="1" dirty="0"/>
              <a:t> provide timely farming recommendations</a:t>
            </a:r>
            <a:br>
              <a:rPr lang="en-US" dirty="0"/>
            </a:br>
            <a:r>
              <a:rPr lang="en-US" dirty="0"/>
              <a:t>→ Use weather and agricultural information to give useful suggestions to farmers.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endParaRPr lang="en-US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7AF9F995-3D45-4DD2-94E3-B6E72F577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745" y="720436"/>
            <a:ext cx="6345382" cy="858982"/>
          </a:xfrm>
        </p:spPr>
        <p:txBody>
          <a:bodyPr/>
          <a:lstStyle/>
          <a:p>
            <a:r>
              <a:rPr lang="en-US"/>
              <a:t>Objectives</a:t>
            </a:r>
          </a:p>
        </p:txBody>
      </p:sp>
      <p:pic>
        <p:nvPicPr>
          <p:cNvPr id="7" name="Picture 6" descr="A logo with text on it&#10;&#10;AI-generated content may be incorrect.">
            <a:extLst>
              <a:ext uri="{FF2B5EF4-FFF2-40B4-BE49-F238E27FC236}">
                <a16:creationId xmlns:a16="http://schemas.microsoft.com/office/drawing/2014/main" id="{02AE0DEC-757A-0857-2F08-CDA46CC841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5820" y="143828"/>
            <a:ext cx="990600" cy="748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891657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82522-BCEB-1D8B-E54B-9E6DB9CD4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3468" y="-138409"/>
            <a:ext cx="14493601" cy="1195757"/>
          </a:xfrm>
        </p:spPr>
        <p:txBody>
          <a:bodyPr/>
          <a:lstStyle/>
          <a:p>
            <a:r>
              <a:rPr lang="en-US" b="0" u="none">
                <a:ea typeface="+mj-lt"/>
                <a:cs typeface="+mj-lt"/>
              </a:rPr>
              <a:t>Literature Survey</a:t>
            </a:r>
            <a:endParaRPr lang="en-US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1594BCC-FC67-CAAF-A2F2-E3A519765B0F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2369617754"/>
              </p:ext>
            </p:extLst>
          </p:nvPr>
        </p:nvGraphicFramePr>
        <p:xfrm>
          <a:off x="-1355651" y="1355651"/>
          <a:ext cx="14711442" cy="704088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948519">
                  <a:extLst>
                    <a:ext uri="{9D8B030D-6E8A-4147-A177-3AD203B41FA5}">
                      <a16:colId xmlns:a16="http://schemas.microsoft.com/office/drawing/2014/main" val="2506962981"/>
                    </a:ext>
                  </a:extLst>
                </a:gridCol>
                <a:gridCol w="4785719">
                  <a:extLst>
                    <a:ext uri="{9D8B030D-6E8A-4147-A177-3AD203B41FA5}">
                      <a16:colId xmlns:a16="http://schemas.microsoft.com/office/drawing/2014/main" val="3703245826"/>
                    </a:ext>
                  </a:extLst>
                </a:gridCol>
                <a:gridCol w="2198839">
                  <a:extLst>
                    <a:ext uri="{9D8B030D-6E8A-4147-A177-3AD203B41FA5}">
                      <a16:colId xmlns:a16="http://schemas.microsoft.com/office/drawing/2014/main" val="3133652639"/>
                    </a:ext>
                  </a:extLst>
                </a:gridCol>
                <a:gridCol w="6778365">
                  <a:extLst>
                    <a:ext uri="{9D8B030D-6E8A-4147-A177-3AD203B41FA5}">
                      <a16:colId xmlns:a16="http://schemas.microsoft.com/office/drawing/2014/main" val="3263244242"/>
                    </a:ext>
                  </a:extLst>
                </a:gridCol>
              </a:tblGrid>
              <a:tr h="1073287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>
                        <a:solidFill>
                          <a:srgbClr val="000000"/>
                        </a:solidFill>
                      </a:endParaRPr>
                    </a:p>
                    <a:p>
                      <a:pPr lvl="0"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         </a:t>
                      </a:r>
                      <a:r>
                        <a:rPr lang="en-US">
                          <a:solidFill>
                            <a:srgbClr val="000000"/>
                          </a:solidFill>
                        </a:rPr>
                        <a:t>SNO</a:t>
                      </a:r>
                    </a:p>
                    <a:p>
                      <a:pPr lvl="0">
                        <a:buNone/>
                      </a:pP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</a:t>
                      </a:r>
                    </a:p>
                    <a:p>
                      <a:pPr lvl="0">
                        <a:buNone/>
                      </a:pPr>
                      <a:r>
                        <a:rPr lang="en-US" dirty="0"/>
                        <a:t>                 </a:t>
                      </a:r>
                    </a:p>
                    <a:p>
                      <a:pPr lvl="0">
                        <a:buNone/>
                      </a:pPr>
                      <a:r>
                        <a:rPr lang="en-US"/>
                        <a:t>                Model/Technique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</a:t>
                      </a:r>
                    </a:p>
                    <a:p>
                      <a:pPr lvl="0">
                        <a:buNone/>
                      </a:pPr>
                      <a:r>
                        <a:rPr lang="en-US" dirty="0"/>
                        <a:t>     </a:t>
                      </a:r>
                      <a:r>
                        <a:rPr lang="en-US"/>
                        <a:t>Output/Results     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Aptos Light"/>
                        </a:rPr>
                        <a:t>                      </a:t>
                      </a:r>
                      <a:endParaRPr lang="en-US"/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Aptos Light"/>
                        </a:rPr>
                        <a:t>                                     </a:t>
                      </a:r>
                      <a:endParaRPr lang="en-US" sz="1800" b="0" i="0" u="none" strike="noStrike" noProof="0"/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Aptos Light"/>
                        </a:rPr>
                        <a:t>                                             </a:t>
                      </a:r>
                      <a:r>
                        <a:rPr lang="en-US" sz="1800" b="1" i="0" u="none" strike="noStrike" noProof="0">
                          <a:latin typeface="Aptos Light"/>
                        </a:rPr>
                        <a:t> Limitations</a:t>
                      </a:r>
                      <a:endParaRPr lang="en-US" sz="1800" b="0" i="0" u="none" strike="noStrike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4993623"/>
                  </a:ext>
                </a:extLst>
              </a:tr>
              <a:tr h="1320141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800" b="0" i="0" u="none" strike="noStrike" noProof="0" dirty="0">
                        <a:latin typeface="Aptos Light"/>
                      </a:endParaRPr>
                    </a:p>
                    <a:p>
                      <a:pPr lvl="0">
                        <a:buNone/>
                      </a:pPr>
                      <a:endParaRPr lang="en-US" sz="1800" b="0" i="0" u="none" strike="noStrike" noProof="0" dirty="0">
                        <a:latin typeface="Aptos Light"/>
                      </a:endParaRPr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 Light"/>
                        </a:rPr>
                        <a:t>         1</a:t>
                      </a:r>
                      <a:endParaRPr lang="en-US" sz="1800" b="0" i="0" u="none" strike="noStrike" noProof="0" dirty="0">
                        <a:latin typeface="Aptos Ligh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000000"/>
                          </a:solidFill>
                        </a:rPr>
                        <a:t>CNN (Convolutional Neural Network)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</a:rPr>
                        <a:t>for maize disease classification(2022)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 </a:t>
                      </a:r>
                      <a:r>
                        <a:rPr lang="en-US" sz="1800" b="0" i="0" u="none" strike="noStrike" noProof="0">
                          <a:latin typeface="Aptos Light"/>
                        </a:rPr>
                        <a:t>Achieved </a:t>
                      </a:r>
                      <a:r>
                        <a:rPr lang="en-US" sz="1800" b="1" i="0" u="none" strike="noStrike" noProof="0" dirty="0">
                          <a:latin typeface="Aptos Light"/>
                        </a:rPr>
                        <a:t>~97% accuracy</a:t>
                      </a:r>
                      <a:r>
                        <a:rPr lang="en-US" sz="1800" b="0" i="0" u="none" strike="noStrike" noProof="0" dirty="0">
                          <a:latin typeface="Aptos Light"/>
                        </a:rPr>
                        <a:t> in identifying leaf diseases using image datasets.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/>
                        <a:t>Required </a:t>
                      </a:r>
                      <a:r>
                        <a:rPr lang="en-US" sz="1800" b="1" i="0" u="none" strike="noStrike" noProof="0"/>
                        <a:t>large labeled datasets</a:t>
                      </a:r>
                      <a:r>
                        <a:rPr lang="en-US" sz="1800" b="0" i="0" u="none" strike="noStrike" noProof="0"/>
                        <a:t>; performance dropped on unseen field images due to lighting and background variations.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326698"/>
                  </a:ext>
                </a:extLst>
              </a:tr>
              <a:tr h="132014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Aptos Light"/>
                        </a:rPr>
                        <a:t>           </a:t>
                      </a:r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 Light"/>
                        </a:rPr>
                        <a:t>      2</a:t>
                      </a:r>
                      <a:endParaRPr lang="en-US" sz="1800" b="0" i="0" u="none" strike="noStrike" noProof="0" dirty="0">
                        <a:latin typeface="Aptos Ligh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 Light"/>
                        </a:rPr>
                        <a:t> </a:t>
                      </a:r>
                      <a:r>
                        <a:rPr lang="en-US" sz="1800" b="1" i="0" u="none" strike="noStrike" noProof="0">
                          <a:solidFill>
                            <a:srgbClr val="000000"/>
                          </a:solidFill>
                        </a:rPr>
                        <a:t>ML-based NPK Optimization Model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</a:rPr>
                        <a:t>using regression and clustering(2026)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noProof="0">
                          <a:latin typeface="Aptos Light"/>
                        </a:rPr>
                        <a:t>Generated </a:t>
                      </a:r>
                      <a:r>
                        <a:rPr lang="en-US" sz="1800" b="0" i="0" u="none" strike="noStrike" noProof="0" dirty="0">
                          <a:latin typeface="Aptos Light"/>
                        </a:rPr>
                        <a:t>site-specific fertilizer recommendations; reduced fertilizer waste.</a:t>
                      </a:r>
                      <a:r>
                        <a:rPr lang="en-US" dirty="0"/>
                        <a:t> 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/>
                        <a:t>High data preprocessing cost</a:t>
                      </a:r>
                      <a:r>
                        <a:rPr lang="en-US" sz="1800" b="0" i="0" u="none" strike="noStrike" noProof="0"/>
                        <a:t>; limited integration with IoT sensors and real-time weather data.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3290270"/>
                  </a:ext>
                </a:extLst>
              </a:tr>
              <a:tr h="1320141">
                <a:tc>
                  <a:txBody>
                    <a:bodyPr/>
                    <a:lstStyle/>
                    <a:p>
                      <a:r>
                        <a:rPr lang="en-US" dirty="0"/>
                        <a:t>           </a:t>
                      </a:r>
                    </a:p>
                    <a:p>
                      <a:pPr lvl="0">
                        <a:buNone/>
                      </a:pPr>
                      <a:r>
                        <a:rPr lang="en-US" dirty="0"/>
                        <a:t>  </a:t>
                      </a:r>
                    </a:p>
                    <a:p>
                      <a:pPr lvl="0">
                        <a:buNone/>
                      </a:pPr>
                      <a:r>
                        <a:rPr lang="en-US"/>
                        <a:t>        3</a:t>
                      </a:r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 dirty="0"/>
                        <a:t>Hybrid CNN + SVM</a:t>
                      </a:r>
                      <a:r>
                        <a:rPr lang="en-US" sz="1800" b="0" i="0" u="none" strike="noStrike" noProof="0" dirty="0"/>
                        <a:t> for insect pest </a:t>
                      </a:r>
                      <a:r>
                        <a:rPr lang="en-US" sz="1800" b="0" i="0" u="none" strike="noStrike" noProof="0"/>
                        <a:t>identification(2026)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noProof="0">
                          <a:latin typeface="Aptos Light"/>
                        </a:rPr>
                        <a:t>Achieved </a:t>
                      </a:r>
                      <a:r>
                        <a:rPr lang="en-US" sz="1800" b="1" i="0" u="none" strike="noStrike" noProof="0" dirty="0">
                          <a:latin typeface="Aptos Light"/>
                        </a:rPr>
                        <a:t>high precision (95%)</a:t>
                      </a:r>
                      <a:r>
                        <a:rPr lang="en-US" sz="1800" b="0" i="0" u="none" strike="noStrike" noProof="0" dirty="0">
                          <a:latin typeface="Aptos Light"/>
                        </a:rPr>
                        <a:t> in pest classification using image features.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/>
                        <a:t>Dataset imbalance and </a:t>
                      </a:r>
                      <a:r>
                        <a:rPr lang="en-US" sz="1800" b="1" i="0" u="none" strike="noStrike" noProof="0"/>
                        <a:t>lack of diverse pest images</a:t>
                      </a:r>
                      <a:r>
                        <a:rPr lang="en-US" sz="1800" b="0" i="0" u="none" strike="noStrike" noProof="0" dirty="0"/>
                        <a:t> </a:t>
                      </a:r>
                      <a:r>
                        <a:rPr lang="en-US" sz="1800" b="0" i="0" u="none" strike="noStrike" noProof="0"/>
                        <a:t>reduced generalization; limited multilingual farmer usability.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1679510"/>
                  </a:ext>
                </a:extLst>
              </a:tr>
              <a:tr h="1320141">
                <a:tc>
                  <a:txBody>
                    <a:bodyPr/>
                    <a:lstStyle/>
                    <a:p>
                      <a:r>
                        <a:rPr lang="en-US" dirty="0"/>
                        <a:t>         </a:t>
                      </a:r>
                    </a:p>
                    <a:p>
                      <a:pPr lvl="0">
                        <a:buNone/>
                      </a:pPr>
                      <a:r>
                        <a:rPr lang="en-US"/>
                        <a:t>         4</a:t>
                      </a:r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Aptos Light"/>
                        </a:rPr>
                        <a:t> </a:t>
                      </a:r>
                      <a:r>
                        <a:rPr lang="en-US" sz="1800" b="1" i="0" u="none" strike="noStrike" noProof="0"/>
                        <a:t>Machine Vision + AI (Deep CNN)</a:t>
                      </a:r>
                      <a:r>
                        <a:rPr lang="en-US" sz="1800" b="0" i="0" u="none" strike="noStrike" noProof="0"/>
                        <a:t> for plant stress detection(2024)</a:t>
                      </a:r>
                      <a:endParaRPr lang="en-US" sz="1800" b="0" i="0" u="none" strike="noStrike" noProof="0" dirty="0">
                        <a:latin typeface="Aptos Ligh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 </a:t>
                      </a:r>
                      <a:r>
                        <a:rPr lang="en-US" sz="1800" b="0" i="0" u="none" strike="noStrike" noProof="0" dirty="0">
                          <a:latin typeface="Aptos Light"/>
                        </a:rPr>
                        <a:t>Detected stress conditions(</a:t>
                      </a:r>
                      <a:r>
                        <a:rPr lang="en-US" sz="1800" b="0" i="0" u="none" strike="noStrike" noProof="0" dirty="0" err="1">
                          <a:latin typeface="Aptos Light"/>
                        </a:rPr>
                        <a:t>temperature,humidit,nutrientdeficiency</a:t>
                      </a:r>
                      <a:r>
                        <a:rPr lang="en-US" sz="1800" b="0" i="0" u="none" strike="noStrike" noProof="0" dirty="0">
                          <a:latin typeface="Aptos Light"/>
                        </a:rPr>
                        <a:t>) with </a:t>
                      </a:r>
                      <a:r>
                        <a:rPr lang="en-US" sz="1800" b="1" i="0" u="none" strike="noStrike" noProof="0" dirty="0">
                          <a:latin typeface="Aptos Light"/>
                        </a:rPr>
                        <a:t>&gt;90% accuracy</a:t>
                      </a:r>
                      <a:r>
                        <a:rPr lang="en-US" sz="1800" b="0" i="0" u="none" strike="noStrike" noProof="0" dirty="0">
                          <a:latin typeface="Aptos Light"/>
                        </a:rPr>
                        <a:t>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/>
                        <a:t>Sensor calibration issues</a:t>
                      </a:r>
                      <a:r>
                        <a:rPr lang="en-US" sz="1800" b="0" i="0" u="none" strike="noStrike" noProof="0"/>
                        <a:t> and </a:t>
                      </a:r>
                      <a:r>
                        <a:rPr lang="en-US" sz="1800" b="1" i="0" u="none" strike="noStrike" noProof="0"/>
                        <a:t>environmental noise</a:t>
                      </a:r>
                      <a:r>
                        <a:rPr lang="en-US" sz="1800" b="0" i="0" u="none" strike="noStrike" noProof="0" dirty="0"/>
                        <a:t> </a:t>
                      </a:r>
                      <a:r>
                        <a:rPr lang="en-US" sz="1800" b="0" i="0" u="none" strike="noStrike" noProof="0"/>
                        <a:t>affected accuracy; limited scalability for small farms.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864275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2FB815B-CD0D-D6A7-FAB2-D46884550B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3370610"/>
              </p:ext>
            </p:extLst>
          </p:nvPr>
        </p:nvGraphicFramePr>
        <p:xfrm>
          <a:off x="0" y="3207488"/>
          <a:ext cx="12192000" cy="4048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1590067204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1844004992"/>
                    </a:ext>
                  </a:extLst>
                </a:gridCol>
              </a:tblGrid>
              <a:tr h="4048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    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25751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6592573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15E61-B638-09F9-C546-EC46B3428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751" y="164593"/>
            <a:ext cx="10194493" cy="962152"/>
          </a:xfrm>
        </p:spPr>
        <p:txBody>
          <a:bodyPr>
            <a:noAutofit/>
          </a:bodyPr>
          <a:lstStyle/>
          <a:p>
            <a:r>
              <a:rPr lang="en-US" sz="6000"/>
              <a:t>Research Gap Identification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14DB0-1E7A-61A1-4F95-45F4A3D3EA8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737" y="1547369"/>
            <a:ext cx="5926882" cy="4859527"/>
          </a:xfrm>
        </p:spPr>
        <p:txBody>
          <a:bodyPr>
            <a:norm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/>
              <a:t>Existing agricultural AI solutions often focus on </a:t>
            </a:r>
            <a:r>
              <a:rPr lang="en-US" sz="2000" b="1"/>
              <a:t>specific individual tasks</a:t>
            </a:r>
            <a:r>
              <a:rPr lang="en-US" sz="2000"/>
              <a:t>, such as crop management, disease detection, or prediction.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/>
              <a:t>There is a need to use different agricultural information such as </a:t>
            </a:r>
            <a:r>
              <a:rPr lang="en-US" sz="2000" b="1"/>
              <a:t>soil, weather, nutrients, moisture, and crop health</a:t>
            </a:r>
            <a:r>
              <a:rPr lang="en-US" sz="2000"/>
              <a:t> together for better decision-making.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/>
              <a:t>Farmers need </a:t>
            </a:r>
            <a:r>
              <a:rPr lang="en-US" sz="2000" b="1"/>
              <a:t>timely and practical recommendations</a:t>
            </a:r>
            <a:r>
              <a:rPr lang="en-US" sz="2000"/>
              <a:t>, rather than only predictions from individual models.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/>
              <a:t>Therefore, there is a need for an </a:t>
            </a:r>
            <a:r>
              <a:rPr lang="en-US" sz="2000" b="1"/>
              <a:t>integrated smart farming framework</a:t>
            </a:r>
            <a:r>
              <a:rPr lang="en-US" sz="2000"/>
              <a:t> that combines multiple Machine Learning-based agricultural tasks.</a:t>
            </a:r>
          </a:p>
          <a:p>
            <a:endParaRPr lang="en-US" sz="4200"/>
          </a:p>
        </p:txBody>
      </p:sp>
      <p:pic>
        <p:nvPicPr>
          <p:cNvPr id="5" name="Picture 4" descr="A diagram of a diagram showing different types of data&#10;&#10;AI-generated content may be incorrect.">
            <a:extLst>
              <a:ext uri="{FF2B5EF4-FFF2-40B4-BE49-F238E27FC236}">
                <a16:creationId xmlns:a16="http://schemas.microsoft.com/office/drawing/2014/main" id="{859429FC-E802-80CE-8481-D48C9AC0F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302" y="1229360"/>
            <a:ext cx="5508677" cy="56286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9796A2-B10A-B0DA-897A-11005C05F8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5820" y="143828"/>
            <a:ext cx="990600" cy="748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8620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76E2C-040E-4D92-F9F7-F61C47F4F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365760"/>
            <a:ext cx="7667029" cy="1024128"/>
          </a:xfrm>
        </p:spPr>
        <p:txBody>
          <a:bodyPr/>
          <a:lstStyle/>
          <a:p>
            <a:r>
              <a:rPr lang="en-US"/>
              <a:t>Innovation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EE18F-CF72-C06C-3020-B9FA4DEAB72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1783080"/>
            <a:ext cx="10942275" cy="2990088"/>
          </a:xfrm>
        </p:spPr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/>
              <a:t>Integrates multiple agricultural AI functions into one smart farming framework.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/>
              <a:t>Uses agricultural data such as soil moisture, temperature, humidity, rainfall, soil nutrients, and crop health.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/>
              <a:t>Uses Machine Learning to recommend suitable crops, predict diseases, estimate irrigation needs, and forecast crop yield.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/>
              <a:t>Integrates weather information to provide timely farming recommendations.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/>
              <a:t>Helps farmers make data-driven decisions instead of depending only on manual observation and experience.</a:t>
            </a:r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7DBA48-EA80-1CD8-6AE3-04BC2C711A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5820" y="143828"/>
            <a:ext cx="990600" cy="748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553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38667-BC26-AD70-C888-2AB5E7286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2" y="548640"/>
            <a:ext cx="7926155" cy="1252728"/>
          </a:xfrm>
        </p:spPr>
        <p:txBody>
          <a:bodyPr/>
          <a:lstStyle/>
          <a:p>
            <a:r>
              <a:rPr lang="en-US"/>
              <a:t>Creativity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202E4-651E-13C3-B1CD-B3D13245894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9496" y="2157984"/>
            <a:ext cx="10872216" cy="2926080"/>
          </a:xfrm>
        </p:spPr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/>
              <a:t>Provides multiple farming solutions in one system.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/>
              <a:t>Uses agricultural information such as soil, weather, crop health, and nutrients.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/>
              <a:t>Gives farmers useful suggestions for crop selection, disease detection, irrigation, and yield.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/>
              <a:t>Makes the system more useful to farmers by providing timely farming recommendations.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/>
              <a:t>The </a:t>
            </a:r>
            <a:r>
              <a:rPr lang="en-US" err="1"/>
              <a:t>AgriBuddy</a:t>
            </a:r>
            <a:r>
              <a:rPr lang="en-US"/>
              <a:t> AI project also includes features such as an AI chatbot, voice assistance, weather information, and multilingual support.</a:t>
            </a:r>
          </a:p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1905AE-9154-5B64-81AD-D20A67010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7587" y="4426323"/>
            <a:ext cx="3641913" cy="2431677"/>
          </a:xfrm>
          <a:prstGeom prst="rect">
            <a:avLst/>
          </a:prstGeom>
        </p:spPr>
      </p:pic>
      <p:pic>
        <p:nvPicPr>
          <p:cNvPr id="6" name="Picture 5" descr="A logo with text on it&#10;&#10;AI-generated content may be incorrect.">
            <a:extLst>
              <a:ext uri="{FF2B5EF4-FFF2-40B4-BE49-F238E27FC236}">
                <a16:creationId xmlns:a16="http://schemas.microsoft.com/office/drawing/2014/main" id="{4B04ACAE-380E-7060-A671-B1AA68066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5820" y="143828"/>
            <a:ext cx="990600" cy="748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042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B410B-2432-BB20-43A7-6CB50DFA5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635000"/>
            <a:ext cx="7880435" cy="1001776"/>
          </a:xfrm>
        </p:spPr>
        <p:txBody>
          <a:bodyPr/>
          <a:lstStyle/>
          <a:p>
            <a:r>
              <a:rPr lang="en-US"/>
              <a:t>Novelty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1859D-339D-A937-7C4A-7438321EA31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" y="1984248"/>
            <a:ext cx="10863072" cy="3401568"/>
          </a:xfrm>
        </p:spPr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/>
              <a:t>Combines crop recommendation, disease prediction, irrigation estimation, and yield forecasting in one framework.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/>
              <a:t>Uses different agricultural parameters together instead of depending on only one type of data.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/>
              <a:t>Uses Machine Learning models such as Random Forest, Decision Tree for agricultural prediction tasks.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/>
              <a:t>Provides a smart farming decision-support approach rather than only displaying agricultural data.</a:t>
            </a:r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5A4587-7656-20BF-8518-7B7AA483C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5820" y="143828"/>
            <a:ext cx="990600" cy="748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202357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58755-CAC6-D486-FE5B-85B7EB237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945" y="635000"/>
            <a:ext cx="7554945" cy="861291"/>
          </a:xfrm>
        </p:spPr>
        <p:txBody>
          <a:bodyPr/>
          <a:lstStyle/>
          <a:p>
            <a:r>
              <a:rPr lang="en-US"/>
              <a:t>Feasibility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2A76C-EB5B-A4F7-92BE-2772E1BD38B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7382" y="1958109"/>
            <a:ext cx="10834254" cy="2964874"/>
          </a:xfrm>
        </p:spPr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/>
              <a:t>Technical Feasibility: Uses established Machine Learning algorithms such as Random Forest, Decision Tree, SVM, and </a:t>
            </a:r>
            <a:r>
              <a:rPr lang="en-US" err="1"/>
              <a:t>XGBoost</a:t>
            </a:r>
            <a:r>
              <a:rPr lang="en-US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/>
              <a:t>Dataset Feasibility: Suitable agricultural datasets such as Crop Recommendation and </a:t>
            </a:r>
            <a:r>
              <a:rPr lang="en-US" err="1"/>
              <a:t>PlantVillage</a:t>
            </a:r>
            <a:r>
              <a:rPr lang="en-US"/>
              <a:t> are available.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/>
              <a:t>Data Feasibility: Agricultural data such as soil moisture, temperature, humidity, rainfall, soil nutrients, and crop health can be used.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/>
              <a:t>Evaluation Feasibility: Models can be evaluated using Accuracy, Precision, Recall, F1-Score, MAE, RMSE, and Confusion Matrix. </a:t>
            </a:r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B34B52-AF4E-6BD6-9C95-89CE134A2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5820" y="143828"/>
            <a:ext cx="990600" cy="748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33203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52B02A-852A-DE15-F584-7F9E7ACE1858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1736436" y="421443"/>
            <a:ext cx="9023927" cy="601595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1004038-4E0E-CE10-B74E-A35635FC8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5820" y="143828"/>
            <a:ext cx="990600" cy="748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5985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5CD9FD2-225E-775E-DF5C-89792D752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160"/>
            <a:ext cx="12349942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BB6C86A-F29F-4C6D-91D0-60A3900F4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5820" y="143828"/>
            <a:ext cx="990600" cy="748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732094"/>
      </p:ext>
    </p:extLst>
  </p:cSld>
  <p:clrMapOvr>
    <a:masterClrMapping/>
  </p:clrMapOvr>
</p:sld>
</file>

<file path=ppt/theme/theme1.xml><?xml version="1.0" encoding="utf-8"?>
<a:theme xmlns:a="http://schemas.openxmlformats.org/drawingml/2006/main" name="BoldUnderlinesKeynote">
  <a:themeElements>
    <a:clrScheme name="NB - Keynote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003A41"/>
      </a:accent1>
      <a:accent2>
        <a:srgbClr val="ECEBE3"/>
      </a:accent2>
      <a:accent3>
        <a:srgbClr val="400023"/>
      </a:accent3>
      <a:accent4>
        <a:srgbClr val="68989E"/>
      </a:accent4>
      <a:accent5>
        <a:srgbClr val="BFB360"/>
      </a:accent5>
      <a:accent6>
        <a:srgbClr val="BF6093"/>
      </a:accent6>
      <a:hlink>
        <a:srgbClr val="169C9A"/>
      </a:hlink>
      <a:folHlink>
        <a:srgbClr val="E15C3D"/>
      </a:folHlink>
    </a:clrScheme>
    <a:fontScheme name="Custom 9">
      <a:majorFont>
        <a:latin typeface="Aptos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old underlines keynote presentation _win32_DN_v2" id="{E18D5B16-117C-46FD-8B97-39D77F728B32}" vid="{93298573-99F9-4CB3-90C8-DB41313B575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76F8FCD-0A1F-4F6A-8F55-15E9E87E2E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3A9C388-2C06-4AF2-857C-74055069A297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F782DA7-86C0-4A84-A860-11A1E6E3FB6B}">
  <ds:schemaRefs>
    <ds:schemaRef ds:uri="16c05727-aa75-4e4a-9b5f-8a80a1165891"/>
    <ds:schemaRef ds:uri="230e9df3-be65-4c73-a93b-d1236ebd677e"/>
    <ds:schemaRef ds:uri="71af3243-3dd4-4a8d-8c0d-dd76da1f02a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{89C8B882-1655-4111-9FAE-86CE32BB67B0}e68b7f07-47f1-4c94-a1ca-e7d736a42cf8-TF86f18fb6-1448-4a46-9973-da86b5b4a1df94418399_win32</Template>
  <TotalTime>32</TotalTime>
  <Words>914</Words>
  <Application>Microsoft Office PowerPoint</Application>
  <PresentationFormat>Widescreen</PresentationFormat>
  <Paragraphs>75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Light</vt:lpstr>
      <vt:lpstr>Arial</vt:lpstr>
      <vt:lpstr>BoldUnderlinesKeynote</vt:lpstr>
      <vt:lpstr>Agriculture AI for smart farming</vt:lpstr>
      <vt:lpstr>Problem Statement</vt:lpstr>
      <vt:lpstr>Objectives</vt:lpstr>
      <vt:lpstr>Literature Survey</vt:lpstr>
      <vt:lpstr>Research Gap Identification</vt:lpstr>
      <vt:lpstr>Innovation</vt:lpstr>
      <vt:lpstr>Creativity</vt:lpstr>
      <vt:lpstr>Novelty</vt:lpstr>
      <vt:lpstr>Feasibility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akashaya potlapally</dc:creator>
  <cp:lastModifiedBy>akashaya potlapally</cp:lastModifiedBy>
  <cp:revision>226</cp:revision>
  <dcterms:created xsi:type="dcterms:W3CDTF">2026-08-06T06:01:23Z</dcterms:created>
  <dcterms:modified xsi:type="dcterms:W3CDTF">2026-10-30T03:35:36Z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